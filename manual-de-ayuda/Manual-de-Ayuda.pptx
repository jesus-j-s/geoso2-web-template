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169C"/>
    <a:srgbClr val="CBD938"/>
    <a:srgbClr val="FF00FF"/>
    <a:srgbClr val="005CC4"/>
    <a:srgbClr val="19D8FA"/>
    <a:srgbClr val="F584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743BD3-E0B6-4B37-A69E-036B20D83E93}" v="1392" dt="2026-01-29T12:23:20.264"/>
    <p1510:client id="{80F1FE66-89E6-3F23-3BEC-C4F1F35FB462}" v="3934" dt="2026-01-27T12:29:50.56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3234" y="2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7BD0A-406B-4E5B-81FD-A9F336076E2C}" type="datetimeFigureOut">
              <a:t>29/01/2026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336675"/>
            <a:ext cx="25495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442C1-8F26-4635-9997-58EED93C66A2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9687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442C1-8F26-4635-9997-58EED93C66A2}" type="slidenum">
              <a:rPr lang="es-ES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0274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442C1-8F26-4635-9997-58EED93C66A2}" type="slidenum"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843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442C1-8F26-4635-9997-58EED93C66A2}" type="slidenum"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001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76E9D9F-0125-F567-38DC-63314CD3B117}"/>
              </a:ext>
            </a:extLst>
          </p:cNvPr>
          <p:cNvSpPr txBox="1"/>
          <p:nvPr/>
        </p:nvSpPr>
        <p:spPr>
          <a:xfrm>
            <a:off x="438542" y="190671"/>
            <a:ext cx="17732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dirty="0"/>
              <a:t>Menú Principal</a:t>
            </a:r>
          </a:p>
        </p:txBody>
      </p:sp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0852F51-F52C-AE7B-C3F1-FDE7FED7DF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" t="5" b="565"/>
          <a:stretch>
            <a:fillRect/>
          </a:stretch>
        </p:blipFill>
        <p:spPr>
          <a:xfrm>
            <a:off x="1382088" y="746430"/>
            <a:ext cx="4787289" cy="2699148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A00049C-E3E4-3B26-431A-AB9CA384A59D}"/>
              </a:ext>
            </a:extLst>
          </p:cNvPr>
          <p:cNvSpPr/>
          <p:nvPr/>
        </p:nvSpPr>
        <p:spPr>
          <a:xfrm>
            <a:off x="3121031" y="1724644"/>
            <a:ext cx="1308023" cy="3708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3BF054C-08D0-B24D-93F3-DEA772C9E1C4}"/>
              </a:ext>
            </a:extLst>
          </p:cNvPr>
          <p:cNvSpPr txBox="1"/>
          <p:nvPr/>
        </p:nvSpPr>
        <p:spPr>
          <a:xfrm>
            <a:off x="781049" y="3590920"/>
            <a:ext cx="3123824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 dirty="0">
                <a:solidFill>
                  <a:srgbClr val="FF0000"/>
                </a:solidFill>
              </a:rPr>
              <a:t>Editar sitio web</a:t>
            </a:r>
            <a:r>
              <a:rPr lang="es-ES" sz="1100" dirty="0">
                <a:solidFill>
                  <a:srgbClr val="000000"/>
                </a:solidFill>
              </a:rPr>
              <a:t>: Este botón edita el sitio web por secciones. Todas las secciones tienen un botón al que te llevan a las instrucciones.</a:t>
            </a:r>
          </a:p>
        </p:txBody>
      </p:sp>
      <p:pic>
        <p:nvPicPr>
          <p:cNvPr id="11" name="Imagen 10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A4A78F5A-CB9A-744D-AE70-FBFF1F106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159" y="3593337"/>
            <a:ext cx="2482774" cy="3934066"/>
          </a:xfrm>
          <a:prstGeom prst="rect">
            <a:avLst/>
          </a:prstGeom>
        </p:spPr>
      </p:pic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1641626A-BE0E-61BA-C464-37C7BB1F7E58}"/>
              </a:ext>
            </a:extLst>
          </p:cNvPr>
          <p:cNvCxnSpPr/>
          <p:nvPr/>
        </p:nvCxnSpPr>
        <p:spPr>
          <a:xfrm>
            <a:off x="4429124" y="2085974"/>
            <a:ext cx="714375" cy="16287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C10FF321-D917-E6C6-4DB0-BA0D0848E942}"/>
              </a:ext>
            </a:extLst>
          </p:cNvPr>
          <p:cNvSpPr/>
          <p:nvPr/>
        </p:nvSpPr>
        <p:spPr>
          <a:xfrm>
            <a:off x="3133725" y="2181225"/>
            <a:ext cx="1238250" cy="37147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41947F8-5D2C-EE31-0FC6-CFDAF4B2352B}"/>
              </a:ext>
            </a:extLst>
          </p:cNvPr>
          <p:cNvSpPr txBox="1"/>
          <p:nvPr/>
        </p:nvSpPr>
        <p:spPr>
          <a:xfrm>
            <a:off x="781062" y="4154094"/>
            <a:ext cx="2990849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 dirty="0">
                <a:solidFill>
                  <a:srgbClr val="00B0F0"/>
                </a:solidFill>
              </a:rPr>
              <a:t>Generar sitio web</a:t>
            </a:r>
            <a:r>
              <a:rPr lang="es-ES" sz="1100" dirty="0">
                <a:solidFill>
                  <a:srgbClr val="000000"/>
                </a:solidFill>
              </a:rPr>
              <a:t>: Pulsando en este botón se abre una pestaña en el navegador para visualizar una página web.</a:t>
            </a:r>
          </a:p>
        </p:txBody>
      </p:sp>
    </p:spTree>
    <p:extLst>
      <p:ext uri="{BB962C8B-B14F-4D97-AF65-F5344CB8AC3E}">
        <p14:creationId xmlns:p14="http://schemas.microsoft.com/office/powerpoint/2010/main" val="3763193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3962" y="967168"/>
            <a:ext cx="929005" cy="187960"/>
            <a:chOff x="463962" y="967168"/>
            <a:chExt cx="929005" cy="18796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962" y="967168"/>
              <a:ext cx="160210" cy="18764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985" y="1017555"/>
              <a:ext cx="120586" cy="1372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099" y="1017555"/>
              <a:ext cx="276224" cy="1372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4231" y="1017555"/>
              <a:ext cx="108394" cy="1372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2438" y="1017555"/>
              <a:ext cx="120586" cy="13725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70075" y="970787"/>
              <a:ext cx="22860" cy="182880"/>
            </a:xfrm>
            <a:custGeom>
              <a:avLst/>
              <a:gdLst/>
              <a:ahLst/>
              <a:cxnLst/>
              <a:rect l="l" t="t" r="r" b="b"/>
              <a:pathLst>
                <a:path w="22859" h="182880">
                  <a:moveTo>
                    <a:pt x="22860" y="182880"/>
                  </a:moveTo>
                  <a:lnTo>
                    <a:pt x="0" y="182880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182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" name="object 3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6091" y="1389888"/>
            <a:ext cx="6096000" cy="4163567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A132DF6A-796F-496B-BBDB-9F0CD0036DB6}"/>
              </a:ext>
            </a:extLst>
          </p:cNvPr>
          <p:cNvSpPr txBox="1"/>
          <p:nvPr/>
        </p:nvSpPr>
        <p:spPr>
          <a:xfrm>
            <a:off x="469391" y="1716663"/>
            <a:ext cx="322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rgbClr val="FF0000"/>
                </a:solidFill>
                <a:latin typeface="Abadi" panose="020B0604020104020204" pitchFamily="34" charset="0"/>
              </a:rPr>
              <a:t>1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FFB6782-82C9-487A-A15F-28DC13FD407B}"/>
              </a:ext>
            </a:extLst>
          </p:cNvPr>
          <p:cNvSpPr txBox="1"/>
          <p:nvPr/>
        </p:nvSpPr>
        <p:spPr>
          <a:xfrm>
            <a:off x="630745" y="5883522"/>
            <a:ext cx="6652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1. Imagen: </a:t>
            </a:r>
            <a:r>
              <a:rPr lang="es-ES" sz="1100" dirty="0">
                <a:latin typeface="Calibri"/>
                <a:ea typeface="Calibri"/>
                <a:cs typeface="Calibri"/>
              </a:rPr>
              <a:t>seleccionar una imagen (formato </a:t>
            </a:r>
            <a:r>
              <a:rPr lang="es-ES" sz="1100" dirty="0" err="1">
                <a:latin typeface="Calibri"/>
                <a:ea typeface="Calibri"/>
                <a:cs typeface="Calibri"/>
              </a:rPr>
              <a:t>xxxxxx</a:t>
            </a:r>
            <a:r>
              <a:rPr lang="es-ES" sz="1100" dirty="0">
                <a:latin typeface="Calibri"/>
                <a:ea typeface="Calibri"/>
                <a:cs typeface="Calibri"/>
              </a:rPr>
              <a:t>).  Se puede usar para el diseño </a:t>
            </a:r>
            <a:r>
              <a:rPr lang="es-ES" sz="1100" b="1" i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esta plantilla </a:t>
            </a:r>
            <a:r>
              <a:rPr lang="es-ES" sz="1100" dirty="0" err="1">
                <a:latin typeface="Calibri"/>
                <a:ea typeface="Calibri"/>
                <a:cs typeface="Calibri"/>
              </a:rPr>
              <a:t>ppt</a:t>
            </a:r>
            <a:endParaRPr lang="es-E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1E695161-A58B-4986-A2E5-E2479DEC65A3}"/>
              </a:ext>
            </a:extLst>
          </p:cNvPr>
          <p:cNvSpPr/>
          <p:nvPr/>
        </p:nvSpPr>
        <p:spPr>
          <a:xfrm>
            <a:off x="704278" y="1765300"/>
            <a:ext cx="389953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49C5E79-5CA5-4073-8E37-77D621D700B0}"/>
              </a:ext>
            </a:extLst>
          </p:cNvPr>
          <p:cNvSpPr txBox="1"/>
          <p:nvPr/>
        </p:nvSpPr>
        <p:spPr>
          <a:xfrm>
            <a:off x="457103" y="1954182"/>
            <a:ext cx="322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rgbClr val="00B050"/>
                </a:solidFill>
                <a:latin typeface="Abadi" panose="020B0604020104020204" pitchFamily="34" charset="0"/>
              </a:rPr>
              <a:t>2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431D810A-45AD-4BD4-B718-AA62634D61F5}"/>
              </a:ext>
            </a:extLst>
          </p:cNvPr>
          <p:cNvSpPr/>
          <p:nvPr/>
        </p:nvSpPr>
        <p:spPr>
          <a:xfrm>
            <a:off x="691990" y="2002819"/>
            <a:ext cx="389953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0B050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D79F0BB-836C-4814-B2CF-24491A828639}"/>
              </a:ext>
            </a:extLst>
          </p:cNvPr>
          <p:cNvSpPr txBox="1"/>
          <p:nvPr/>
        </p:nvSpPr>
        <p:spPr>
          <a:xfrm>
            <a:off x="705384" y="6526482"/>
            <a:ext cx="64509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2. Enlace: 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dirige a la información que el usuario quiere que se vea cuando se pulsa la imagen 1 (</a:t>
            </a:r>
            <a:r>
              <a:rPr lang="es-ES" sz="110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pdf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otra web, un formulario, etc.). El usuario también puede buscarlo en su ordenador pulsando </a:t>
            </a:r>
            <a:r>
              <a:rPr lang="es-ES" sz="1100" dirty="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“Buscar archivo”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AB804F75-3B3B-401D-90EB-CF8B05165126}"/>
              </a:ext>
            </a:extLst>
          </p:cNvPr>
          <p:cNvSpPr/>
          <p:nvPr/>
        </p:nvSpPr>
        <p:spPr>
          <a:xfrm>
            <a:off x="6064250" y="2220117"/>
            <a:ext cx="685800" cy="2286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0B050"/>
              </a:solidFill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010C9BA2-1C9B-49C7-844D-7826C77F97EF}"/>
              </a:ext>
            </a:extLst>
          </p:cNvPr>
          <p:cNvSpPr txBox="1"/>
          <p:nvPr/>
        </p:nvSpPr>
        <p:spPr>
          <a:xfrm>
            <a:off x="457103" y="2235417"/>
            <a:ext cx="322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rgbClr val="7030A0"/>
                </a:solidFill>
                <a:latin typeface="Abadi" panose="020B0604020104020204" pitchFamily="34" charset="0"/>
              </a:rPr>
              <a:t>3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37A53300-C594-4DE6-BDDF-09520CDF6706}"/>
              </a:ext>
            </a:extLst>
          </p:cNvPr>
          <p:cNvSpPr/>
          <p:nvPr/>
        </p:nvSpPr>
        <p:spPr>
          <a:xfrm>
            <a:off x="2559050" y="2205088"/>
            <a:ext cx="2438400" cy="2286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030A0"/>
              </a:solidFill>
            </a:endParaRP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040FFB14-B924-48F0-B7D7-F5C74C5DEC17}"/>
              </a:ext>
            </a:extLst>
          </p:cNvPr>
          <p:cNvCxnSpPr>
            <a:stCxn id="40" idx="2"/>
          </p:cNvCxnSpPr>
          <p:nvPr/>
        </p:nvCxnSpPr>
        <p:spPr>
          <a:xfrm>
            <a:off x="618457" y="2543194"/>
            <a:ext cx="187993" cy="44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561CC6F-7D2A-485D-9D8A-FAE77A73693C}"/>
              </a:ext>
            </a:extLst>
          </p:cNvPr>
          <p:cNvSpPr txBox="1"/>
          <p:nvPr/>
        </p:nvSpPr>
        <p:spPr>
          <a:xfrm>
            <a:off x="692144" y="7384653"/>
            <a:ext cx="64509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3. Añadir, Eliminar, subir, bajar: 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son las operaciones que se pueden hacer con las líneas del cuadro, cada una de las cuales representa un </a:t>
            </a:r>
            <a:r>
              <a:rPr lang="es-ES" sz="1100" i="1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slide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del carrusel. La imagen añadida debe aparecer como una línea nueva.</a:t>
            </a:r>
            <a:endParaRPr lang="es-ES" sz="1100" dirty="0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05BA52C-61DF-45B2-A85A-D3998C222DAB}"/>
              </a:ext>
            </a:extLst>
          </p:cNvPr>
          <p:cNvSpPr txBox="1"/>
          <p:nvPr/>
        </p:nvSpPr>
        <p:spPr>
          <a:xfrm>
            <a:off x="690033" y="8128657"/>
            <a:ext cx="64509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FF"/>
                </a:solidFill>
                <a:latin typeface="Calibri"/>
                <a:ea typeface="Calibri"/>
                <a:cs typeface="Calibri"/>
              </a:rPr>
              <a:t>4. Guardar cambios: 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 deben guardar cambios y para visualizarlos hay que regresar al 1º letrero y solicitar </a:t>
            </a:r>
            <a:r>
              <a:rPr lang="es-ES" sz="1100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“Generar sitio web”</a:t>
            </a:r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B3DA3EE1-1C82-43A1-81DA-4512F303AE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5336" y="8720624"/>
            <a:ext cx="2805876" cy="1599405"/>
          </a:xfrm>
          <a:prstGeom prst="rect">
            <a:avLst/>
          </a:prstGeom>
        </p:spPr>
      </p:pic>
      <p:sp>
        <p:nvSpPr>
          <p:cNvPr id="48" name="Rectángulo 47">
            <a:extLst>
              <a:ext uri="{FF2B5EF4-FFF2-40B4-BE49-F238E27FC236}">
                <a16:creationId xmlns:a16="http://schemas.microsoft.com/office/drawing/2014/main" id="{CB302694-3239-4D90-9F68-A3F58AB35954}"/>
              </a:ext>
            </a:extLst>
          </p:cNvPr>
          <p:cNvSpPr/>
          <p:nvPr/>
        </p:nvSpPr>
        <p:spPr>
          <a:xfrm>
            <a:off x="3350768" y="5278419"/>
            <a:ext cx="808482" cy="228600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0B050"/>
              </a:solidFill>
            </a:endParaRP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3AFEA3D3-817A-4BE5-AA4E-E7248DEC8066}"/>
              </a:ext>
            </a:extLst>
          </p:cNvPr>
          <p:cNvSpPr/>
          <p:nvPr/>
        </p:nvSpPr>
        <p:spPr>
          <a:xfrm>
            <a:off x="5284033" y="9512477"/>
            <a:ext cx="808482" cy="2286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D388B62-FCD3-5F02-23F7-8F19661AF82D}"/>
              </a:ext>
            </a:extLst>
          </p:cNvPr>
          <p:cNvSpPr txBox="1"/>
          <p:nvPr/>
        </p:nvSpPr>
        <p:spPr>
          <a:xfrm>
            <a:off x="371807" y="190670"/>
            <a:ext cx="26232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dirty="0"/>
              <a:t>Entidades colaboradoras</a:t>
            </a:r>
          </a:p>
        </p:txBody>
      </p:sp>
      <p:pic>
        <p:nvPicPr>
          <p:cNvPr id="8" name="Imagen 7" descr="Interfaz de usuario gráfica, Texto, Aplicación, Correo electrónico">
            <a:extLst>
              <a:ext uri="{FF2B5EF4-FFF2-40B4-BE49-F238E27FC236}">
                <a16:creationId xmlns:a16="http://schemas.microsoft.com/office/drawing/2014/main" id="{3F1D9F7A-7D3D-720E-8BE6-3E427B56C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80" y="831631"/>
            <a:ext cx="6646139" cy="47244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3907439-1DA9-70B4-763F-ADEB850D788F}"/>
              </a:ext>
            </a:extLst>
          </p:cNvPr>
          <p:cNvSpPr/>
          <p:nvPr/>
        </p:nvSpPr>
        <p:spPr>
          <a:xfrm>
            <a:off x="500732" y="1442586"/>
            <a:ext cx="548421" cy="2503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A3EC7C-8DAE-87BB-5BFF-EE43B968C898}"/>
              </a:ext>
            </a:extLst>
          </p:cNvPr>
          <p:cNvSpPr/>
          <p:nvPr/>
        </p:nvSpPr>
        <p:spPr>
          <a:xfrm>
            <a:off x="488809" y="1740642"/>
            <a:ext cx="524577" cy="286132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42F4A3B-27A8-7B4C-4BC7-E46F4A72776E}"/>
              </a:ext>
            </a:extLst>
          </p:cNvPr>
          <p:cNvSpPr/>
          <p:nvPr/>
        </p:nvSpPr>
        <p:spPr>
          <a:xfrm>
            <a:off x="2050619" y="2038697"/>
            <a:ext cx="3385906" cy="34574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CF64B99-3A35-0E66-A252-FFB08748BCC6}"/>
              </a:ext>
            </a:extLst>
          </p:cNvPr>
          <p:cNvSpPr/>
          <p:nvPr/>
        </p:nvSpPr>
        <p:spPr>
          <a:xfrm>
            <a:off x="3171306" y="5191216"/>
            <a:ext cx="1192220" cy="2861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4D1D2E-A9A2-72A8-5CDA-93C7C20D7E1B}"/>
              </a:ext>
            </a:extLst>
          </p:cNvPr>
          <p:cNvSpPr txBox="1"/>
          <p:nvPr/>
        </p:nvSpPr>
        <p:spPr>
          <a:xfrm>
            <a:off x="410422" y="5739637"/>
            <a:ext cx="6659463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 dirty="0">
                <a:solidFill>
                  <a:srgbClr val="00B050"/>
                </a:solidFill>
              </a:rPr>
              <a:t>Imagen</a:t>
            </a:r>
            <a:r>
              <a:rPr lang="es-ES" sz="1100" dirty="0"/>
              <a:t>:  seleccionas el logo del colaborador (.png)</a:t>
            </a:r>
            <a:endParaRPr lang="es-ES" sz="1100" dirty="0">
              <a:solidFill>
                <a:srgbClr val="000000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97427B7-C4F7-8914-30C2-7E4B268F40BF}"/>
              </a:ext>
            </a:extLst>
          </p:cNvPr>
          <p:cNvSpPr txBox="1"/>
          <p:nvPr/>
        </p:nvSpPr>
        <p:spPr>
          <a:xfrm>
            <a:off x="412062" y="6202979"/>
            <a:ext cx="6581057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 dirty="0">
                <a:solidFill>
                  <a:srgbClr val="FF00FF"/>
                </a:solidFill>
              </a:rPr>
              <a:t>Enlace</a:t>
            </a:r>
            <a:r>
              <a:rPr lang="es-ES" sz="1100" dirty="0">
                <a:solidFill>
                  <a:schemeClr val="tx1"/>
                </a:solidFill>
              </a:rPr>
              <a:t>: te dirige a la dirección que quieres que lleve al usuario cuando pinche en la imagen,(</a:t>
            </a:r>
            <a:r>
              <a:rPr lang="es-ES" sz="1100" err="1">
                <a:solidFill>
                  <a:schemeClr val="tx1"/>
                </a:solidFill>
              </a:rPr>
              <a:t>pdf</a:t>
            </a:r>
            <a:r>
              <a:rPr lang="es-ES" sz="1100" dirty="0">
                <a:solidFill>
                  <a:schemeClr val="tx1"/>
                </a:solidFill>
              </a:rPr>
              <a:t>, página web o un formulario), también puedes buscarlo a través del botón </a:t>
            </a:r>
            <a:r>
              <a:rPr lang="es-ES" sz="1100" dirty="0">
                <a:solidFill>
                  <a:srgbClr val="FF0000"/>
                </a:solidFill>
              </a:rPr>
              <a:t>"buscar archivo".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DDF0784-A373-253D-8ED9-1CF0EBC68EB1}"/>
              </a:ext>
            </a:extLst>
          </p:cNvPr>
          <p:cNvSpPr/>
          <p:nvPr/>
        </p:nvSpPr>
        <p:spPr>
          <a:xfrm>
            <a:off x="6032636" y="2050619"/>
            <a:ext cx="953776" cy="357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D1F607-B763-3052-9F0D-C89CB97DF5CA}"/>
              </a:ext>
            </a:extLst>
          </p:cNvPr>
          <p:cNvSpPr txBox="1"/>
          <p:nvPr/>
        </p:nvSpPr>
        <p:spPr>
          <a:xfrm>
            <a:off x="475578" y="7143408"/>
            <a:ext cx="620154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 dirty="0">
                <a:solidFill>
                  <a:srgbClr val="00B0F0"/>
                </a:solidFill>
              </a:rPr>
              <a:t>Añadir, eliminar, subir, bajar</a:t>
            </a:r>
            <a:r>
              <a:rPr lang="es-ES" sz="1100" dirty="0">
                <a:solidFill>
                  <a:schemeClr val="tx1"/>
                </a:solidFill>
              </a:rPr>
              <a:t>: Son acciones con las que puedes añadir la imagen que has puesto nueva, eliminarla y ordenar las otras imágenes que estén puestas dentro del cuadro.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72AB6D8-1DE0-A782-FF27-E43FEF8A14DC}"/>
              </a:ext>
            </a:extLst>
          </p:cNvPr>
          <p:cNvSpPr txBox="1"/>
          <p:nvPr/>
        </p:nvSpPr>
        <p:spPr>
          <a:xfrm>
            <a:off x="493942" y="8050390"/>
            <a:ext cx="6195433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 dirty="0">
                <a:solidFill>
                  <a:schemeClr val="tx2"/>
                </a:solidFill>
              </a:rPr>
              <a:t>Guardar cambios</a:t>
            </a:r>
            <a:r>
              <a:rPr lang="es-ES" sz="1100" dirty="0">
                <a:solidFill>
                  <a:schemeClr val="tx1"/>
                </a:solidFill>
              </a:rPr>
              <a:t>: 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 deben guardar cambios y para visualizarlos hay que regresar al 1º letrero y pulsar en "</a:t>
            </a:r>
            <a:r>
              <a:rPr lang="es-ES" sz="1100" dirty="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Generar sitio web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".</a:t>
            </a:r>
            <a:endParaRPr lang="es-ES" sz="1100" dirty="0">
              <a:solidFill>
                <a:schemeClr val="accent6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s-ES" sz="1100" dirty="0">
              <a:solidFill>
                <a:schemeClr val="tx1"/>
              </a:solidFill>
            </a:endParaRPr>
          </a:p>
        </p:txBody>
      </p:sp>
      <p:pic>
        <p:nvPicPr>
          <p:cNvPr id="7" name="Imagen 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29C70F2-55F6-F501-CFEE-691F05A9E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964" y="8653410"/>
            <a:ext cx="2805876" cy="1599405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22DD2F6A-690F-219E-4F6D-EBA35B2711C8}"/>
              </a:ext>
            </a:extLst>
          </p:cNvPr>
          <p:cNvSpPr/>
          <p:nvPr/>
        </p:nvSpPr>
        <p:spPr>
          <a:xfrm>
            <a:off x="4831879" y="9448590"/>
            <a:ext cx="894087" cy="28534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D16B3AD8-1BC8-57A2-D8E8-7614CAAE7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95" y="1064442"/>
            <a:ext cx="6325960" cy="512445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D7858EB-D720-166F-81DD-99C3E151DC7A}"/>
              </a:ext>
            </a:extLst>
          </p:cNvPr>
          <p:cNvSpPr txBox="1"/>
          <p:nvPr/>
        </p:nvSpPr>
        <p:spPr>
          <a:xfrm>
            <a:off x="296949" y="553369"/>
            <a:ext cx="53835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dirty="0"/>
              <a:t>Noticias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6D4D377-99E4-D6DC-2CC1-53B231CF81D7}"/>
              </a:ext>
            </a:extLst>
          </p:cNvPr>
          <p:cNvSpPr/>
          <p:nvPr/>
        </p:nvSpPr>
        <p:spPr>
          <a:xfrm>
            <a:off x="674258" y="1411238"/>
            <a:ext cx="721300" cy="25088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F8E38C8-F8E6-A872-3C06-B0613E7EBB14}"/>
              </a:ext>
            </a:extLst>
          </p:cNvPr>
          <p:cNvSpPr/>
          <p:nvPr/>
        </p:nvSpPr>
        <p:spPr>
          <a:xfrm>
            <a:off x="667767" y="1656735"/>
            <a:ext cx="713637" cy="2161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EE5BE32-2972-72C7-412B-EAC532825CFC}"/>
              </a:ext>
            </a:extLst>
          </p:cNvPr>
          <p:cNvSpPr/>
          <p:nvPr/>
        </p:nvSpPr>
        <p:spPr>
          <a:xfrm>
            <a:off x="630474" y="1897603"/>
            <a:ext cx="791183" cy="25960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B3ACE0B-3ACB-00C5-132D-185A242391F7}"/>
              </a:ext>
            </a:extLst>
          </p:cNvPr>
          <p:cNvSpPr/>
          <p:nvPr/>
        </p:nvSpPr>
        <p:spPr>
          <a:xfrm>
            <a:off x="642836" y="2614614"/>
            <a:ext cx="914805" cy="22252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EEAAD5B-7206-D757-3244-6ADA26D47A35}"/>
              </a:ext>
            </a:extLst>
          </p:cNvPr>
          <p:cNvSpPr/>
          <p:nvPr/>
        </p:nvSpPr>
        <p:spPr>
          <a:xfrm>
            <a:off x="630474" y="2892764"/>
            <a:ext cx="908624" cy="228701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60935D-84DC-CD8B-EF2A-A7E9D523E3F1}"/>
              </a:ext>
            </a:extLst>
          </p:cNvPr>
          <p:cNvSpPr/>
          <p:nvPr/>
        </p:nvSpPr>
        <p:spPr>
          <a:xfrm>
            <a:off x="2355007" y="3127647"/>
            <a:ext cx="2713512" cy="33996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B939CA2-259B-1D6C-BAA8-B698EBADDE53}"/>
              </a:ext>
            </a:extLst>
          </p:cNvPr>
          <p:cNvSpPr/>
          <p:nvPr/>
        </p:nvSpPr>
        <p:spPr>
          <a:xfrm>
            <a:off x="5915332" y="2812409"/>
            <a:ext cx="914805" cy="32759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AD4525D-12E4-8A1C-F9FF-99589F66CAB9}"/>
              </a:ext>
            </a:extLst>
          </p:cNvPr>
          <p:cNvSpPr/>
          <p:nvPr/>
        </p:nvSpPr>
        <p:spPr>
          <a:xfrm>
            <a:off x="3170914" y="5705174"/>
            <a:ext cx="1131145" cy="364686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53D3116-85FD-FB32-16A7-109CBFFAF07E}"/>
              </a:ext>
            </a:extLst>
          </p:cNvPr>
          <p:cNvSpPr txBox="1"/>
          <p:nvPr/>
        </p:nvSpPr>
        <p:spPr>
          <a:xfrm>
            <a:off x="603792" y="6386333"/>
            <a:ext cx="637768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 dirty="0">
                <a:solidFill>
                  <a:srgbClr val="00B050"/>
                </a:solidFill>
              </a:rPr>
              <a:t>Imagen</a:t>
            </a:r>
            <a:r>
              <a:rPr lang="es-ES" sz="1100" dirty="0">
                <a:solidFill>
                  <a:schemeClr val="tx1"/>
                </a:solidFill>
              </a:rPr>
              <a:t>: Seleccionas una imagen de (200 x 200) que está en la portada de la noticia.</a:t>
            </a:r>
          </a:p>
          <a:p>
            <a:pPr algn="l"/>
            <a:endParaRPr lang="es-ES" sz="1100" dirty="0">
              <a:solidFill>
                <a:schemeClr val="tx1"/>
              </a:solidFill>
            </a:endParaRPr>
          </a:p>
          <a:p>
            <a:pPr algn="l"/>
            <a:r>
              <a:rPr lang="es-ES" sz="1100" dirty="0">
                <a:solidFill>
                  <a:srgbClr val="FF0000"/>
                </a:solidFill>
              </a:rPr>
              <a:t>Título</a:t>
            </a:r>
            <a:r>
              <a:rPr lang="es-ES" sz="1100" dirty="0">
                <a:solidFill>
                  <a:schemeClr val="tx1"/>
                </a:solidFill>
              </a:rPr>
              <a:t>: Añades el título de la noticia.</a:t>
            </a:r>
          </a:p>
          <a:p>
            <a:pPr algn="l"/>
            <a:endParaRPr lang="es-ES" sz="1100" dirty="0">
              <a:solidFill>
                <a:schemeClr val="tx1"/>
              </a:solidFill>
            </a:endParaRPr>
          </a:p>
          <a:p>
            <a:pPr algn="l"/>
            <a:r>
              <a:rPr lang="es-ES" sz="1100" dirty="0">
                <a:solidFill>
                  <a:srgbClr val="00B0F0"/>
                </a:solidFill>
              </a:rPr>
              <a:t>Descripción</a:t>
            </a:r>
            <a:r>
              <a:rPr lang="es-ES" sz="1100" dirty="0">
                <a:solidFill>
                  <a:schemeClr val="tx1"/>
                </a:solidFill>
              </a:rPr>
              <a:t>: Escribes el cuerpo de la noticia.</a:t>
            </a:r>
          </a:p>
          <a:p>
            <a:pPr algn="l"/>
            <a:endParaRPr lang="es-ES" sz="1100" dirty="0">
              <a:solidFill>
                <a:schemeClr val="tx1"/>
              </a:solidFill>
            </a:endParaRPr>
          </a:p>
          <a:p>
            <a:pPr algn="l"/>
            <a:r>
              <a:rPr lang="es-ES" sz="1100" dirty="0">
                <a:solidFill>
                  <a:srgbClr val="FF00FF"/>
                </a:solidFill>
              </a:rPr>
              <a:t>URL del enlace</a:t>
            </a:r>
            <a:r>
              <a:rPr lang="es-ES" sz="1100" dirty="0">
                <a:solidFill>
                  <a:schemeClr val="tx1"/>
                </a:solidFill>
              </a:rPr>
              <a:t>: Si el usuario pincha en el "</a:t>
            </a:r>
            <a:r>
              <a:rPr lang="es-ES" sz="1100" dirty="0">
                <a:solidFill>
                  <a:srgbClr val="FFC000"/>
                </a:solidFill>
              </a:rPr>
              <a:t>texto del enlace</a:t>
            </a:r>
            <a:r>
              <a:rPr lang="es-ES" sz="1100" dirty="0">
                <a:solidFill>
                  <a:schemeClr val="tx1"/>
                </a:solidFill>
              </a:rPr>
              <a:t>" te dirige a la dirección que pongas, (</a:t>
            </a:r>
            <a:r>
              <a:rPr lang="es-ES" sz="1100" err="1">
                <a:solidFill>
                  <a:schemeClr val="tx1"/>
                </a:solidFill>
              </a:rPr>
              <a:t>pdf</a:t>
            </a:r>
            <a:r>
              <a:rPr lang="es-ES" sz="1100" dirty="0">
                <a:solidFill>
                  <a:schemeClr val="tx1"/>
                </a:solidFill>
              </a:rPr>
              <a:t>, página web). Puedes buscar el enlace en la opción "</a:t>
            </a:r>
            <a:r>
              <a:rPr lang="es-ES" sz="1100" dirty="0">
                <a:solidFill>
                  <a:srgbClr val="0070C0"/>
                </a:solidFill>
              </a:rPr>
              <a:t>buscar archivo</a:t>
            </a:r>
            <a:r>
              <a:rPr lang="es-ES" sz="1100" dirty="0">
                <a:solidFill>
                  <a:schemeClr val="tx1"/>
                </a:solidFill>
              </a:rPr>
              <a:t>".</a:t>
            </a:r>
          </a:p>
          <a:p>
            <a:pPr algn="l"/>
            <a:endParaRPr lang="es-ES" sz="1100" dirty="0">
              <a:solidFill>
                <a:schemeClr val="tx1"/>
              </a:solidFill>
            </a:endParaRPr>
          </a:p>
          <a:p>
            <a:pPr algn="l"/>
            <a:r>
              <a:rPr lang="es-ES" sz="1100" dirty="0">
                <a:solidFill>
                  <a:srgbClr val="FFC000"/>
                </a:solidFill>
              </a:rPr>
              <a:t>Texto del enlace</a:t>
            </a:r>
            <a:r>
              <a:rPr lang="es-ES" sz="1100" dirty="0">
                <a:solidFill>
                  <a:schemeClr val="tx1"/>
                </a:solidFill>
              </a:rPr>
              <a:t>: Un texto que haga referencia al enlace, por ejemplo(Leer más).</a:t>
            </a:r>
          </a:p>
          <a:p>
            <a:pPr algn="l"/>
            <a:endParaRPr lang="es-ES" sz="1100" dirty="0">
              <a:solidFill>
                <a:schemeClr val="tx1"/>
              </a:solidFill>
            </a:endParaRPr>
          </a:p>
          <a:p>
            <a:pPr algn="l"/>
            <a:r>
              <a:rPr lang="es-ES" sz="1100" dirty="0">
                <a:solidFill>
                  <a:srgbClr val="C00000"/>
                </a:solidFill>
              </a:rPr>
              <a:t>Añadir, editar y eliminar</a:t>
            </a:r>
            <a:r>
              <a:rPr lang="es-ES" sz="1100" dirty="0">
                <a:solidFill>
                  <a:schemeClr val="tx1"/>
                </a:solidFill>
              </a:rPr>
              <a:t>: Son acciones para editar las noticias ya publicadas, añadir una noticia que crees o eliminarla.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7030A0"/>
                </a:solidFill>
              </a:rPr>
              <a:t>Guardar cambios</a:t>
            </a:r>
            <a:r>
              <a:rPr lang="es-ES" sz="1100" dirty="0">
                <a:solidFill>
                  <a:schemeClr val="tx1"/>
                </a:solidFill>
              </a:rPr>
              <a:t>: Debes guardar los cambios que hagas, y para visualizar los cambios debes ir al 1º letrero y pulsar en "</a:t>
            </a:r>
            <a:r>
              <a:rPr lang="es-ES" sz="1100" dirty="0">
                <a:solidFill>
                  <a:srgbClr val="92D050"/>
                </a:solidFill>
              </a:rPr>
              <a:t>Generar sitio web</a:t>
            </a:r>
            <a:r>
              <a:rPr lang="es-ES" sz="1100" dirty="0">
                <a:solidFill>
                  <a:schemeClr val="tx1"/>
                </a:solidFill>
              </a:rPr>
              <a:t>".</a:t>
            </a:r>
          </a:p>
          <a:p>
            <a:pPr algn="l"/>
            <a:endParaRPr lang="es-ES" sz="1100" dirty="0">
              <a:solidFill>
                <a:schemeClr val="tx1"/>
              </a:solidFill>
            </a:endParaRPr>
          </a:p>
          <a:p>
            <a:pPr algn="l"/>
            <a:endParaRPr lang="es-ES" sz="1100" dirty="0">
              <a:solidFill>
                <a:schemeClr val="tx1"/>
              </a:solidFill>
            </a:endParaRPr>
          </a:p>
        </p:txBody>
      </p:sp>
      <p:pic>
        <p:nvPicPr>
          <p:cNvPr id="14" name="Imagen 1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D6072EC-7E6A-DA19-3925-B4F3C60FA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580" y="9089143"/>
            <a:ext cx="2805876" cy="1599405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391EBF78-87DC-5253-195A-33B83D6858F9}"/>
              </a:ext>
            </a:extLst>
          </p:cNvPr>
          <p:cNvSpPr/>
          <p:nvPr/>
        </p:nvSpPr>
        <p:spPr>
          <a:xfrm>
            <a:off x="5503670" y="9873722"/>
            <a:ext cx="787474" cy="285567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3588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6B357EB7-FB37-E110-87BF-A848336F4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5282"/>
            <a:ext cx="7550699" cy="540277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3AF61B0-017B-63DE-F537-356E6C45D398}"/>
              </a:ext>
            </a:extLst>
          </p:cNvPr>
          <p:cNvSpPr txBox="1"/>
          <p:nvPr/>
        </p:nvSpPr>
        <p:spPr>
          <a:xfrm>
            <a:off x="209536" y="95243"/>
            <a:ext cx="1838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dirty="0"/>
              <a:t>Agenda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DBD32E5-61FD-DE40-ADB6-A03B0E762403}"/>
              </a:ext>
            </a:extLst>
          </p:cNvPr>
          <p:cNvSpPr/>
          <p:nvPr/>
        </p:nvSpPr>
        <p:spPr>
          <a:xfrm>
            <a:off x="76199" y="1162049"/>
            <a:ext cx="647699" cy="20954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4F1D2F2-96D7-2453-43F4-0F9319E3AFD4}"/>
              </a:ext>
            </a:extLst>
          </p:cNvPr>
          <p:cNvSpPr/>
          <p:nvPr/>
        </p:nvSpPr>
        <p:spPr>
          <a:xfrm>
            <a:off x="148700" y="1480481"/>
            <a:ext cx="695324" cy="1809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671D953-4C5E-8BCF-72B1-1BF3501FA516}"/>
              </a:ext>
            </a:extLst>
          </p:cNvPr>
          <p:cNvSpPr/>
          <p:nvPr/>
        </p:nvSpPr>
        <p:spPr>
          <a:xfrm>
            <a:off x="154524" y="1666711"/>
            <a:ext cx="676274" cy="200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5D71727-18EE-519C-A42A-B86BC4EF4D7E}"/>
              </a:ext>
            </a:extLst>
          </p:cNvPr>
          <p:cNvSpPr/>
          <p:nvPr/>
        </p:nvSpPr>
        <p:spPr>
          <a:xfrm>
            <a:off x="142874" y="2287971"/>
            <a:ext cx="350282" cy="380707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F2C5CAF-5BC5-E3EA-A015-5AA77249F393}"/>
              </a:ext>
            </a:extLst>
          </p:cNvPr>
          <p:cNvSpPr/>
          <p:nvPr/>
        </p:nvSpPr>
        <p:spPr>
          <a:xfrm>
            <a:off x="123824" y="2714461"/>
            <a:ext cx="514349" cy="161924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2F56BBD-D572-12EE-6C75-3B7A14BA1B40}"/>
              </a:ext>
            </a:extLst>
          </p:cNvPr>
          <p:cNvSpPr/>
          <p:nvPr/>
        </p:nvSpPr>
        <p:spPr>
          <a:xfrm>
            <a:off x="123825" y="2927705"/>
            <a:ext cx="714374" cy="171449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515E24B-0EA1-8230-4F03-A7197AF91B35}"/>
              </a:ext>
            </a:extLst>
          </p:cNvPr>
          <p:cNvSpPr/>
          <p:nvPr/>
        </p:nvSpPr>
        <p:spPr>
          <a:xfrm>
            <a:off x="139175" y="3137255"/>
            <a:ext cx="695324" cy="190499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EF2F076-7349-C7C4-4015-EEDFC5557216}"/>
              </a:ext>
            </a:extLst>
          </p:cNvPr>
          <p:cNvSpPr/>
          <p:nvPr/>
        </p:nvSpPr>
        <p:spPr>
          <a:xfrm>
            <a:off x="2057399" y="3310840"/>
            <a:ext cx="3428999" cy="380999"/>
          </a:xfrm>
          <a:prstGeom prst="rect">
            <a:avLst/>
          </a:prstGeom>
          <a:noFill/>
          <a:ln>
            <a:solidFill>
              <a:srgbClr val="F584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507757C-0655-81C2-184B-272906A96958}"/>
              </a:ext>
            </a:extLst>
          </p:cNvPr>
          <p:cNvSpPr/>
          <p:nvPr/>
        </p:nvSpPr>
        <p:spPr>
          <a:xfrm>
            <a:off x="3776147" y="5602669"/>
            <a:ext cx="857249" cy="42034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1C94B2A-E802-3957-173F-E58E90A6689B}"/>
              </a:ext>
            </a:extLst>
          </p:cNvPr>
          <p:cNvSpPr/>
          <p:nvPr/>
        </p:nvSpPr>
        <p:spPr>
          <a:xfrm>
            <a:off x="6645875" y="2866649"/>
            <a:ext cx="752424" cy="285730"/>
          </a:xfrm>
          <a:prstGeom prst="rect">
            <a:avLst/>
          </a:prstGeom>
          <a:noFill/>
          <a:ln>
            <a:solidFill>
              <a:srgbClr val="F516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D166481-7851-C8B5-C653-FF69B35A7482}"/>
              </a:ext>
            </a:extLst>
          </p:cNvPr>
          <p:cNvSpPr txBox="1"/>
          <p:nvPr/>
        </p:nvSpPr>
        <p:spPr>
          <a:xfrm>
            <a:off x="146555" y="6295599"/>
            <a:ext cx="7149101" cy="44781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 dirty="0">
                <a:solidFill>
                  <a:srgbClr val="0070C0"/>
                </a:solidFill>
              </a:rPr>
              <a:t>Imagen</a:t>
            </a:r>
            <a:r>
              <a:rPr lang="es-ES" sz="1100" dirty="0"/>
              <a:t>:  Seleccionamos una imagen para que salga en la portada del evento, (la imagen se </a:t>
            </a:r>
            <a:r>
              <a:rPr lang="es-ES" sz="1100" dirty="0" err="1"/>
              <a:t>reescala</a:t>
            </a:r>
            <a:r>
              <a:rPr lang="es-ES" sz="1100" dirty="0"/>
              <a:t> a 200 x 200).</a:t>
            </a:r>
          </a:p>
          <a:p>
            <a:pPr algn="l"/>
            <a:endParaRPr lang="es-ES" sz="1100" dirty="0">
              <a:solidFill>
                <a:schemeClr val="tx1"/>
              </a:solidFill>
            </a:endParaRPr>
          </a:p>
          <a:p>
            <a:pPr algn="l"/>
            <a:r>
              <a:rPr lang="es-ES" sz="1100" dirty="0">
                <a:solidFill>
                  <a:srgbClr val="FF0000"/>
                </a:solidFill>
              </a:rPr>
              <a:t>Título del evento</a:t>
            </a:r>
            <a:r>
              <a:rPr lang="es-ES" sz="1100" dirty="0">
                <a:solidFill>
                  <a:schemeClr val="tx1"/>
                </a:solidFill>
              </a:rPr>
              <a:t>: Agregamos el título del evento.</a:t>
            </a:r>
          </a:p>
          <a:p>
            <a:pPr algn="l"/>
            <a:endParaRPr lang="es-ES" sz="1100" dirty="0">
              <a:solidFill>
                <a:schemeClr val="tx1"/>
              </a:solidFill>
            </a:endParaRPr>
          </a:p>
          <a:p>
            <a:pPr algn="l"/>
            <a:r>
              <a:rPr lang="es-ES" sz="1100" dirty="0">
                <a:solidFill>
                  <a:srgbClr val="00B050"/>
                </a:solidFill>
              </a:rPr>
              <a:t>Descripción</a:t>
            </a:r>
            <a:r>
              <a:rPr lang="es-ES" sz="1100" dirty="0">
                <a:solidFill>
                  <a:schemeClr val="tx1"/>
                </a:solidFill>
              </a:rPr>
              <a:t>: Aquí agregamos el cuerpo o la información del evento.</a:t>
            </a:r>
          </a:p>
          <a:p>
            <a:pPr algn="l"/>
            <a:endParaRPr lang="es-ES" sz="1100" dirty="0">
              <a:solidFill>
                <a:schemeClr val="tx1"/>
              </a:solidFill>
            </a:endParaRPr>
          </a:p>
          <a:p>
            <a:pPr algn="l"/>
            <a:r>
              <a:rPr lang="es-ES" sz="1100" dirty="0">
                <a:solidFill>
                  <a:srgbClr val="FF00FF"/>
                </a:solidFill>
              </a:rPr>
              <a:t>Fecha y Hora</a:t>
            </a:r>
            <a:r>
              <a:rPr lang="es-ES" sz="1100" dirty="0">
                <a:solidFill>
                  <a:schemeClr val="tx1"/>
                </a:solidFill>
              </a:rPr>
              <a:t>: La fecha y la hora a la que se realiza el evento.</a:t>
            </a:r>
          </a:p>
          <a:p>
            <a:pPr algn="l"/>
            <a:endParaRPr lang="es-ES" sz="1100" dirty="0">
              <a:solidFill>
                <a:schemeClr val="tx1"/>
              </a:solidFill>
            </a:endParaRPr>
          </a:p>
          <a:p>
            <a:pPr algn="l"/>
            <a:r>
              <a:rPr lang="es-ES" sz="1100" dirty="0">
                <a:solidFill>
                  <a:schemeClr val="bg2">
                    <a:lumMod val="49000"/>
                  </a:schemeClr>
                </a:solidFill>
              </a:rPr>
              <a:t>Lugar</a:t>
            </a:r>
            <a:r>
              <a:rPr lang="es-ES" sz="1100" dirty="0">
                <a:solidFill>
                  <a:schemeClr val="tx1"/>
                </a:solidFill>
              </a:rPr>
              <a:t>: Lugar donde se realiza el evento.</a:t>
            </a:r>
          </a:p>
          <a:p>
            <a:pPr algn="l"/>
            <a:endParaRPr lang="es-ES" sz="1100" dirty="0">
              <a:solidFill>
                <a:schemeClr val="tx1"/>
              </a:solidFill>
            </a:endParaRPr>
          </a:p>
          <a:p>
            <a:pPr algn="l"/>
            <a:r>
              <a:rPr lang="es-ES" sz="1100" dirty="0">
                <a:solidFill>
                  <a:srgbClr val="7030A0"/>
                </a:solidFill>
              </a:rPr>
              <a:t>URL del enlace</a:t>
            </a:r>
            <a:r>
              <a:rPr lang="es-ES" sz="1100" dirty="0">
                <a:solidFill>
                  <a:schemeClr val="tx1"/>
                </a:solidFill>
              </a:rPr>
              <a:t>: 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Si el usuario pincha en el "</a:t>
            </a:r>
            <a:r>
              <a:rPr lang="es-ES" sz="1100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texto del enlace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" te dirige a la dirección que pongas, (</a:t>
            </a:r>
            <a:r>
              <a:rPr lang="es-ES" sz="110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pdf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página web). Puedes buscar el enlace en la opción "</a:t>
            </a:r>
            <a:r>
              <a:rPr lang="es-ES" sz="1100" dirty="0">
                <a:solidFill>
                  <a:srgbClr val="F5169C"/>
                </a:solidFill>
                <a:latin typeface="Calibri"/>
                <a:ea typeface="Calibri"/>
                <a:cs typeface="Calibri"/>
              </a:rPr>
              <a:t>buscar archivo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".</a:t>
            </a:r>
          </a:p>
          <a:p>
            <a:pPr algn="l"/>
            <a:endParaRPr lang="es-ES" sz="1100" dirty="0">
              <a:solidFill>
                <a:schemeClr val="tx1"/>
              </a:solidFill>
            </a:endParaRPr>
          </a:p>
          <a:p>
            <a:pPr algn="l"/>
            <a:r>
              <a:rPr lang="es-ES" sz="1100" dirty="0">
                <a:solidFill>
                  <a:srgbClr val="00B0F0"/>
                </a:solidFill>
              </a:rPr>
              <a:t>Texto del enlace</a:t>
            </a:r>
            <a:r>
              <a:rPr lang="es-ES" sz="1100" dirty="0">
                <a:solidFill>
                  <a:schemeClr val="tx1"/>
                </a:solidFill>
              </a:rPr>
              <a:t>: </a:t>
            </a:r>
            <a:r>
              <a:rPr lang="es-E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Un texto que haga referencia al enlace, por ejemplo(Leer más).</a:t>
            </a:r>
          </a:p>
          <a:p>
            <a:pPr algn="l"/>
            <a:endParaRPr lang="es-ES" sz="1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s-ES" sz="1400" dirty="0">
                <a:solidFill>
                  <a:srgbClr val="F58473"/>
                </a:solidFill>
                <a:latin typeface="Calibri"/>
                <a:ea typeface="Calibri"/>
                <a:cs typeface="Calibri"/>
              </a:rPr>
              <a:t>Añadir, editar, eliminar, subir y bajar</a:t>
            </a:r>
            <a:r>
              <a:rPr lang="es-E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: Son acciones con las que puedes añadir un evento, editar uno existente, eliminarlo y ordenar los existentes.</a:t>
            </a:r>
          </a:p>
          <a:p>
            <a:pPr algn="l"/>
            <a:endParaRPr lang="es-ES" sz="1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s-ES" sz="1400" dirty="0">
                <a:solidFill>
                  <a:srgbClr val="92D050"/>
                </a:solidFill>
                <a:latin typeface="Calibri"/>
                <a:ea typeface="Calibri"/>
                <a:cs typeface="Calibri"/>
              </a:rPr>
              <a:t>Guardar cambios</a:t>
            </a:r>
            <a:r>
              <a:rPr lang="es-E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Debes guardar los cambios que hagas,</a:t>
            </a:r>
            <a:endParaRPr lang="en-US" sz="11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y para visualizar los cambios debes ir al 1º letrero y pulsar en</a:t>
            </a:r>
            <a:endParaRPr lang="en-US" sz="11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"</a:t>
            </a:r>
            <a:r>
              <a:rPr lang="es-ES" sz="1100" dirty="0">
                <a:solidFill>
                  <a:srgbClr val="005CC4"/>
                </a:solidFill>
                <a:latin typeface="Calibri"/>
                <a:ea typeface="Calibri"/>
                <a:cs typeface="Calibri"/>
              </a:rPr>
              <a:t>Generar sitio web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".</a:t>
            </a:r>
            <a:endParaRPr lang="en-US" sz="11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s-ES" sz="11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s-ES" sz="1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282259D-238B-E0C9-333A-0629EE666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831" y="9304240"/>
            <a:ext cx="2406550" cy="1461128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02D96353-AA5F-F8AA-1EA1-9F0B4B9AD45A}"/>
              </a:ext>
            </a:extLst>
          </p:cNvPr>
          <p:cNvSpPr/>
          <p:nvPr/>
        </p:nvSpPr>
        <p:spPr>
          <a:xfrm>
            <a:off x="5705090" y="10029148"/>
            <a:ext cx="714326" cy="238108"/>
          </a:xfrm>
          <a:prstGeom prst="rect">
            <a:avLst/>
          </a:prstGeom>
          <a:noFill/>
          <a:ln>
            <a:solidFill>
              <a:srgbClr val="005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4690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EB9AA6F-D083-1B99-B7DC-37C8B5042B76}"/>
              </a:ext>
            </a:extLst>
          </p:cNvPr>
          <p:cNvSpPr txBox="1"/>
          <p:nvPr/>
        </p:nvSpPr>
        <p:spPr>
          <a:xfrm>
            <a:off x="247632" y="104767"/>
            <a:ext cx="27525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dirty="0"/>
              <a:t>Quiénes Somos</a:t>
            </a:r>
          </a:p>
        </p:txBody>
      </p:sp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33CBA581-1039-E5BA-CE36-37F838771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511"/>
            <a:ext cx="7550699" cy="490186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D3D7F38-9DCD-FD93-0E50-8AC085A787F4}"/>
              </a:ext>
            </a:extLst>
          </p:cNvPr>
          <p:cNvSpPr/>
          <p:nvPr/>
        </p:nvSpPr>
        <p:spPr>
          <a:xfrm>
            <a:off x="85724" y="1009649"/>
            <a:ext cx="628649" cy="19049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8528C35-5724-C583-D8D8-3CD04F419DDD}"/>
              </a:ext>
            </a:extLst>
          </p:cNvPr>
          <p:cNvSpPr/>
          <p:nvPr/>
        </p:nvSpPr>
        <p:spPr>
          <a:xfrm>
            <a:off x="85725" y="1247774"/>
            <a:ext cx="695324" cy="19049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92BDE0A-A17D-0D2C-B99A-3806FD2F72D8}"/>
              </a:ext>
            </a:extLst>
          </p:cNvPr>
          <p:cNvSpPr/>
          <p:nvPr/>
        </p:nvSpPr>
        <p:spPr>
          <a:xfrm>
            <a:off x="95249" y="1476374"/>
            <a:ext cx="438149" cy="190499"/>
          </a:xfrm>
          <a:prstGeom prst="rect">
            <a:avLst/>
          </a:prstGeom>
          <a:noFill/>
          <a:ln>
            <a:solidFill>
              <a:srgbClr val="F516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4B3B22C-094C-8A06-5154-5E07863ECB84}"/>
              </a:ext>
            </a:extLst>
          </p:cNvPr>
          <p:cNvSpPr/>
          <p:nvPr/>
        </p:nvSpPr>
        <p:spPr>
          <a:xfrm>
            <a:off x="76200" y="2247900"/>
            <a:ext cx="542924" cy="200024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320970-1558-6137-441C-A78995B22A8F}"/>
              </a:ext>
            </a:extLst>
          </p:cNvPr>
          <p:cNvSpPr/>
          <p:nvPr/>
        </p:nvSpPr>
        <p:spPr>
          <a:xfrm>
            <a:off x="85725" y="2495549"/>
            <a:ext cx="752474" cy="15239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4669770-C1F3-11E1-4982-CCC8091B7F4F}"/>
              </a:ext>
            </a:extLst>
          </p:cNvPr>
          <p:cNvSpPr/>
          <p:nvPr/>
        </p:nvSpPr>
        <p:spPr>
          <a:xfrm>
            <a:off x="171450" y="2705100"/>
            <a:ext cx="3286124" cy="314324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C698276-AF4F-E91D-D35A-3140097C6F7C}"/>
              </a:ext>
            </a:extLst>
          </p:cNvPr>
          <p:cNvSpPr/>
          <p:nvPr/>
        </p:nvSpPr>
        <p:spPr>
          <a:xfrm>
            <a:off x="3543300" y="5000624"/>
            <a:ext cx="1095374" cy="314324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984929E-F099-1B00-F4B7-280C6FFEDCCB}"/>
              </a:ext>
            </a:extLst>
          </p:cNvPr>
          <p:cNvSpPr txBox="1"/>
          <p:nvPr/>
        </p:nvSpPr>
        <p:spPr>
          <a:xfrm>
            <a:off x="190500" y="5514974"/>
            <a:ext cx="711517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 dirty="0">
                <a:solidFill>
                  <a:srgbClr val="00B050"/>
                </a:solidFill>
              </a:rPr>
              <a:t>Nombre</a:t>
            </a:r>
            <a:r>
              <a:rPr lang="es-ES" sz="1100" dirty="0">
                <a:solidFill>
                  <a:schemeClr val="tx1"/>
                </a:solidFill>
              </a:rPr>
              <a:t>: Nombre del investigador.</a:t>
            </a:r>
            <a:endParaRPr lang="es-ES">
              <a:solidFill>
                <a:schemeClr val="tx1"/>
              </a:solidFill>
            </a:endParaRPr>
          </a:p>
          <a:p>
            <a:pPr algn="l"/>
            <a:endParaRPr lang="es-ES" sz="1100" dirty="0">
              <a:solidFill>
                <a:schemeClr val="tx1"/>
              </a:solidFill>
            </a:endParaRPr>
          </a:p>
          <a:p>
            <a:pPr algn="l"/>
            <a:r>
              <a:rPr lang="es-ES" sz="1100" dirty="0">
                <a:solidFill>
                  <a:srgbClr val="00B0F0"/>
                </a:solidFill>
              </a:rPr>
              <a:t>Imagen</a:t>
            </a:r>
            <a:r>
              <a:rPr lang="es-ES" sz="1100" dirty="0">
                <a:solidFill>
                  <a:schemeClr val="tx1"/>
                </a:solidFill>
              </a:rPr>
              <a:t>: Foto de perfil del investigador.(300 x 300).</a:t>
            </a:r>
          </a:p>
          <a:p>
            <a:pPr algn="l"/>
            <a:endParaRPr lang="es-ES" sz="1100" dirty="0">
              <a:solidFill>
                <a:schemeClr val="tx1"/>
              </a:solidFill>
            </a:endParaRPr>
          </a:p>
          <a:p>
            <a:pPr algn="l"/>
            <a:r>
              <a:rPr lang="es-ES" sz="1100" dirty="0">
                <a:solidFill>
                  <a:srgbClr val="F5169C"/>
                </a:solidFill>
              </a:rPr>
              <a:t>Bio</a:t>
            </a:r>
            <a:r>
              <a:rPr lang="es-ES" sz="1100" dirty="0">
                <a:solidFill>
                  <a:schemeClr val="tx1"/>
                </a:solidFill>
              </a:rPr>
              <a:t>: Biografía del investigador</a:t>
            </a:r>
          </a:p>
          <a:p>
            <a:pPr algn="l"/>
            <a:endParaRPr lang="es-ES" sz="1100" dirty="0">
              <a:solidFill>
                <a:schemeClr val="tx1"/>
              </a:solidFill>
            </a:endParaRPr>
          </a:p>
          <a:p>
            <a:pPr algn="l"/>
            <a:r>
              <a:rPr lang="es-ES" sz="1100" dirty="0">
                <a:solidFill>
                  <a:srgbClr val="7030A0"/>
                </a:solidFill>
              </a:rPr>
              <a:t>Link</a:t>
            </a:r>
            <a:r>
              <a:rPr lang="es-ES" sz="1100" dirty="0">
                <a:solidFill>
                  <a:schemeClr val="tx1"/>
                </a:solidFill>
              </a:rPr>
              <a:t>: 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te dirige a la dirección que quieres que lleve al usuario cuando pinche en la imagen o en el "</a:t>
            </a:r>
            <a:r>
              <a:rPr lang="es-ES" sz="1100" dirty="0">
                <a:solidFill>
                  <a:schemeClr val="accent6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texto del enlace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",(</a:t>
            </a:r>
            <a:r>
              <a:rPr lang="es-ES" sz="110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pdf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página web).</a:t>
            </a:r>
          </a:p>
          <a:p>
            <a:pPr algn="l"/>
            <a:endParaRPr lang="es-ES" sz="11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s-ES" sz="1100" dirty="0">
                <a:solidFill>
                  <a:schemeClr val="accent6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Texto del enlace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s-E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Un texto que haga referencia al enlace, por ejemplo(ORCID).</a:t>
            </a:r>
          </a:p>
          <a:p>
            <a:pPr algn="l"/>
            <a:endParaRPr lang="es-ES" sz="1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s-ES" sz="1400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Añadir, editar, eliminar, subir y bajar</a:t>
            </a:r>
            <a:r>
              <a:rPr lang="es-E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: Son acciones que permiten añadir un nuevo investigador, editar uno, eliminarlo y ordenar los investigadores existentes.</a:t>
            </a:r>
          </a:p>
          <a:p>
            <a:pPr algn="l"/>
            <a:endParaRPr lang="es-ES" sz="1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s-ES" sz="1400" dirty="0">
                <a:solidFill>
                  <a:srgbClr val="92D050"/>
                </a:solidFill>
                <a:latin typeface="Calibri"/>
                <a:ea typeface="Calibri"/>
                <a:cs typeface="Calibri"/>
              </a:rPr>
              <a:t>Guardar cambios</a:t>
            </a:r>
            <a:r>
              <a:rPr lang="es-E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Debes guardar los cambios que hagas, y para visualizar los cambios debes ir al 1º letrero y pulsar en "</a:t>
            </a:r>
            <a:r>
              <a:rPr lang="es-ES" sz="11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Generar sitio web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".</a:t>
            </a:r>
            <a:endParaRPr lang="es-ES">
              <a:solidFill>
                <a:schemeClr val="tx1"/>
              </a:solidFill>
            </a:endParaRPr>
          </a:p>
          <a:p>
            <a:pPr algn="l"/>
            <a:endParaRPr lang="es-ES" sz="11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s-ES" sz="1100" dirty="0">
              <a:solidFill>
                <a:schemeClr val="tx1"/>
              </a:solidFill>
            </a:endParaRPr>
          </a:p>
        </p:txBody>
      </p:sp>
      <p:pic>
        <p:nvPicPr>
          <p:cNvPr id="12" name="Imagen 1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50B64DB-701A-85DC-5F02-7D8BFCAB8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019" y="8352105"/>
            <a:ext cx="2667648" cy="1522585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4A0DB67C-491A-4876-8593-D6FF20AC22E8}"/>
              </a:ext>
            </a:extLst>
          </p:cNvPr>
          <p:cNvSpPr/>
          <p:nvPr/>
        </p:nvSpPr>
        <p:spPr>
          <a:xfrm>
            <a:off x="5200298" y="9114809"/>
            <a:ext cx="742899" cy="2571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9297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8AD87BB-996C-A7E0-C4D5-51B57D1739A8}"/>
              </a:ext>
            </a:extLst>
          </p:cNvPr>
          <p:cNvSpPr txBox="1"/>
          <p:nvPr/>
        </p:nvSpPr>
        <p:spPr>
          <a:xfrm>
            <a:off x="152389" y="1885822"/>
            <a:ext cx="2714441" cy="819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6A7033B-71BA-0516-E23D-32A620F53B91}"/>
              </a:ext>
            </a:extLst>
          </p:cNvPr>
          <p:cNvSpPr txBox="1"/>
          <p:nvPr/>
        </p:nvSpPr>
        <p:spPr>
          <a:xfrm>
            <a:off x="190487" y="142865"/>
            <a:ext cx="25811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dirty="0"/>
              <a:t>Publicaciones</a:t>
            </a:r>
          </a:p>
        </p:txBody>
      </p:sp>
      <p:pic>
        <p:nvPicPr>
          <p:cNvPr id="4" name="Imagen 3" descr="Interfaz de usuario gráfica, Texto, Aplicación, Correo electrónico">
            <a:extLst>
              <a:ext uri="{FF2B5EF4-FFF2-40B4-BE49-F238E27FC236}">
                <a16:creationId xmlns:a16="http://schemas.microsoft.com/office/drawing/2014/main" id="{1FCA5DA7-6341-C7B2-B2E5-FD55FEA89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2095"/>
            <a:ext cx="7550699" cy="5547731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9FC22A2-321F-3770-CDFE-6B039733FCF8}"/>
              </a:ext>
            </a:extLst>
          </p:cNvPr>
          <p:cNvSpPr/>
          <p:nvPr/>
        </p:nvSpPr>
        <p:spPr>
          <a:xfrm>
            <a:off x="76194" y="1085776"/>
            <a:ext cx="457169" cy="2762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D082F2B-5A01-76EC-B876-2EEC451F0C18}"/>
              </a:ext>
            </a:extLst>
          </p:cNvPr>
          <p:cNvSpPr/>
          <p:nvPr/>
        </p:nvSpPr>
        <p:spPr>
          <a:xfrm>
            <a:off x="85719" y="1409605"/>
            <a:ext cx="485742" cy="17143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8F54F65-E6C1-52B4-76C6-1D8F68392F04}"/>
              </a:ext>
            </a:extLst>
          </p:cNvPr>
          <p:cNvSpPr/>
          <p:nvPr/>
        </p:nvSpPr>
        <p:spPr>
          <a:xfrm>
            <a:off x="95243" y="1666762"/>
            <a:ext cx="447644" cy="23810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A3BD9BE-4996-465C-ADF4-0659C416D046}"/>
              </a:ext>
            </a:extLst>
          </p:cNvPr>
          <p:cNvSpPr/>
          <p:nvPr/>
        </p:nvSpPr>
        <p:spPr>
          <a:xfrm>
            <a:off x="85719" y="1971541"/>
            <a:ext cx="476217" cy="219060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1514678-9F06-258F-DD14-CE01CB5958BD}"/>
              </a:ext>
            </a:extLst>
          </p:cNvPr>
          <p:cNvSpPr/>
          <p:nvPr/>
        </p:nvSpPr>
        <p:spPr>
          <a:xfrm>
            <a:off x="95243" y="2247747"/>
            <a:ext cx="485742" cy="190487"/>
          </a:xfrm>
          <a:prstGeom prst="rect">
            <a:avLst/>
          </a:prstGeom>
          <a:noFill/>
          <a:ln>
            <a:solidFill>
              <a:srgbClr val="005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2C81A1D-329C-303F-AFA8-3ABB0F09F2E2}"/>
              </a:ext>
            </a:extLst>
          </p:cNvPr>
          <p:cNvSpPr/>
          <p:nvPr/>
        </p:nvSpPr>
        <p:spPr>
          <a:xfrm>
            <a:off x="76194" y="2485857"/>
            <a:ext cx="523839" cy="18096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80B0E57-08C3-E068-3B71-EC6958A72489}"/>
              </a:ext>
            </a:extLst>
          </p:cNvPr>
          <p:cNvSpPr/>
          <p:nvPr/>
        </p:nvSpPr>
        <p:spPr>
          <a:xfrm>
            <a:off x="57145" y="2743015"/>
            <a:ext cx="514315" cy="18096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41AC521-295B-9EF3-A0CD-E728A0ACC2F5}"/>
              </a:ext>
            </a:extLst>
          </p:cNvPr>
          <p:cNvSpPr/>
          <p:nvPr/>
        </p:nvSpPr>
        <p:spPr>
          <a:xfrm>
            <a:off x="76195" y="2981123"/>
            <a:ext cx="504790" cy="24763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DCA5241-9005-3CBE-DCFC-1DF8E3DBEBB5}"/>
              </a:ext>
            </a:extLst>
          </p:cNvPr>
          <p:cNvSpPr/>
          <p:nvPr/>
        </p:nvSpPr>
        <p:spPr>
          <a:xfrm>
            <a:off x="1533421" y="3219232"/>
            <a:ext cx="3666877" cy="371449"/>
          </a:xfrm>
          <a:prstGeom prst="rect">
            <a:avLst/>
          </a:prstGeom>
          <a:noFill/>
          <a:ln>
            <a:solidFill>
              <a:srgbClr val="F516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E6A53BE-6E0B-F056-0E75-BF4DCD968094}"/>
              </a:ext>
            </a:extLst>
          </p:cNvPr>
          <p:cNvSpPr/>
          <p:nvPr/>
        </p:nvSpPr>
        <p:spPr>
          <a:xfrm>
            <a:off x="5828906" y="2885880"/>
            <a:ext cx="952435" cy="447644"/>
          </a:xfrm>
          <a:prstGeom prst="rect">
            <a:avLst/>
          </a:prstGeom>
          <a:noFill/>
          <a:ln>
            <a:solidFill>
              <a:srgbClr val="19D8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3872978-642D-4EA8-AB25-9758475DE1D2}"/>
              </a:ext>
            </a:extLst>
          </p:cNvPr>
          <p:cNvSpPr/>
          <p:nvPr/>
        </p:nvSpPr>
        <p:spPr>
          <a:xfrm>
            <a:off x="3609730" y="5657467"/>
            <a:ext cx="1161971" cy="35240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DA12D32-FAF5-5C5D-7734-8026A95929E7}"/>
              </a:ext>
            </a:extLst>
          </p:cNvPr>
          <p:cNvSpPr/>
          <p:nvPr/>
        </p:nvSpPr>
        <p:spPr>
          <a:xfrm>
            <a:off x="5095531" y="1028630"/>
            <a:ext cx="2257272" cy="39049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9172160-DBF7-474C-D3F1-3C1B79C272E7}"/>
              </a:ext>
            </a:extLst>
          </p:cNvPr>
          <p:cNvSpPr txBox="1"/>
          <p:nvPr/>
        </p:nvSpPr>
        <p:spPr>
          <a:xfrm>
            <a:off x="152389" y="6219404"/>
            <a:ext cx="7114694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 dirty="0">
                <a:solidFill>
                  <a:srgbClr val="FF0000"/>
                </a:solidFill>
              </a:rPr>
              <a:t>Año</a:t>
            </a:r>
            <a:r>
              <a:rPr lang="es-ES" sz="1100" dirty="0"/>
              <a:t>: Insertamos el año al que corresponde la publicación, a la derecha podemos </a:t>
            </a:r>
            <a:r>
              <a:rPr lang="es-ES" sz="1100" dirty="0">
                <a:solidFill>
                  <a:schemeClr val="accent6"/>
                </a:solidFill>
              </a:rPr>
              <a:t>añadir años, eliminarlos y actualizar</a:t>
            </a:r>
            <a:r>
              <a:rPr lang="es-ES" sz="1100" dirty="0"/>
              <a:t> para que se actualice todo el contenido al cambiar de año.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00B0F0"/>
                </a:solidFill>
              </a:rPr>
              <a:t>Autores</a:t>
            </a:r>
            <a:r>
              <a:rPr lang="es-ES" sz="1100" dirty="0">
                <a:solidFill>
                  <a:srgbClr val="000000"/>
                </a:solidFill>
              </a:rPr>
              <a:t>: El nombre de las personas que han escrito la publicación.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92D050"/>
                </a:solidFill>
              </a:rPr>
              <a:t>Título</a:t>
            </a:r>
            <a:r>
              <a:rPr lang="es-ES" sz="1100" dirty="0">
                <a:solidFill>
                  <a:srgbClr val="000000"/>
                </a:solidFill>
              </a:rPr>
              <a:t>: El título de la publicación.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FF00FF"/>
                </a:solidFill>
              </a:rPr>
              <a:t>Tipo</a:t>
            </a:r>
            <a:r>
              <a:rPr lang="es-ES" sz="1100" dirty="0">
                <a:solidFill>
                  <a:srgbClr val="000000"/>
                </a:solidFill>
              </a:rPr>
              <a:t>: Aquí se pone si la publicación es un artículo, (si no lo es no se pone nada).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005CC4"/>
                </a:solidFill>
              </a:rPr>
              <a:t>Revista</a:t>
            </a:r>
            <a:r>
              <a:rPr lang="es-ES" sz="1100" dirty="0">
                <a:solidFill>
                  <a:srgbClr val="000000"/>
                </a:solidFill>
              </a:rPr>
              <a:t>: El nombre de la revista en el que el articulo o publicación están publicados.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00B050"/>
                </a:solidFill>
              </a:rPr>
              <a:t>Volumen</a:t>
            </a:r>
            <a:r>
              <a:rPr lang="es-ES" sz="1100" dirty="0">
                <a:solidFill>
                  <a:srgbClr val="000000"/>
                </a:solidFill>
              </a:rPr>
              <a:t>: El número de revista, como por ejemplo: "39(2)".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chemeClr val="bg2">
                    <a:lumMod val="49000"/>
                  </a:schemeClr>
                </a:solidFill>
              </a:rPr>
              <a:t>Número</a:t>
            </a:r>
            <a:r>
              <a:rPr lang="es-ES" sz="1100" dirty="0">
                <a:solidFill>
                  <a:srgbClr val="000000"/>
                </a:solidFill>
              </a:rPr>
              <a:t>: El número de las páginas en el que está el artículo de la publicación, si es un </a:t>
            </a:r>
            <a:r>
              <a:rPr lang="es-ES" sz="1100" err="1">
                <a:solidFill>
                  <a:srgbClr val="000000"/>
                </a:solidFill>
              </a:rPr>
              <a:t>pdf</a:t>
            </a:r>
            <a:r>
              <a:rPr lang="es-ES" sz="1100" dirty="0">
                <a:solidFill>
                  <a:srgbClr val="000000"/>
                </a:solidFill>
              </a:rPr>
              <a:t> puedes buscarlo en el botón "</a:t>
            </a:r>
            <a:r>
              <a:rPr lang="es-ES" sz="1100" dirty="0">
                <a:solidFill>
                  <a:srgbClr val="19D8FA"/>
                </a:solidFill>
              </a:rPr>
              <a:t>buscar archivo</a:t>
            </a:r>
            <a:r>
              <a:rPr lang="es-ES" sz="1100" dirty="0">
                <a:solidFill>
                  <a:srgbClr val="000000"/>
                </a:solidFill>
              </a:rPr>
              <a:t>"</a:t>
            </a:r>
          </a:p>
          <a:p>
            <a:pPr algn="l"/>
            <a:endParaRPr lang="es-ES" sz="1100" dirty="0">
              <a:solidFill>
                <a:srgbClr val="7030A0"/>
              </a:solidFill>
            </a:endParaRPr>
          </a:p>
          <a:p>
            <a:pPr algn="l"/>
            <a:r>
              <a:rPr lang="es-ES" sz="1100" dirty="0">
                <a:solidFill>
                  <a:srgbClr val="7030A0"/>
                </a:solidFill>
              </a:rPr>
              <a:t>URL</a:t>
            </a:r>
            <a:r>
              <a:rPr lang="es-ES" sz="1100" dirty="0">
                <a:solidFill>
                  <a:srgbClr val="000000"/>
                </a:solidFill>
              </a:rPr>
              <a:t>: Es el enlace que te lleva a la página de la revista.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F5169C"/>
                </a:solidFill>
              </a:rPr>
              <a:t>Añadir, editar, eliminar, subir y bajar</a:t>
            </a:r>
            <a:r>
              <a:rPr lang="es-ES" sz="1100" dirty="0">
                <a:solidFill>
                  <a:srgbClr val="000000"/>
                </a:solidFill>
              </a:rPr>
              <a:t>: Son acciones que permiten que se editen las publicaciones, podemos añadir una publicación, editar una existente y ordenarlas usando subir o bajar.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C00000"/>
                </a:solidFill>
              </a:rPr>
              <a:t>Guardar cambios</a:t>
            </a:r>
            <a:r>
              <a:rPr lang="es-ES" sz="1100" dirty="0">
                <a:solidFill>
                  <a:srgbClr val="000000"/>
                </a:solidFill>
              </a:rPr>
              <a:t>: 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Debes guardar los cambios que hagas,</a:t>
            </a:r>
            <a:endParaRPr lang="en-US" sz="11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y para visualizar los cambios debes ir al 1º letrero y pulsar en</a:t>
            </a:r>
            <a:endParaRPr lang="en-US" sz="11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"</a:t>
            </a:r>
            <a:r>
              <a:rPr lang="es-ES" sz="1100" dirty="0">
                <a:solidFill>
                  <a:srgbClr val="005CC4"/>
                </a:solidFill>
                <a:latin typeface="Calibri"/>
                <a:ea typeface="Calibri"/>
                <a:cs typeface="Calibri"/>
              </a:rPr>
              <a:t>Generar sitio web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".</a:t>
            </a:r>
            <a:r>
              <a:rPr lang="es-ES" sz="1100" dirty="0">
                <a:solidFill>
                  <a:srgbClr val="000000"/>
                </a:solidFill>
              </a:rPr>
              <a:t> </a:t>
            </a:r>
            <a:endParaRPr lang="es-ES" dirty="0"/>
          </a:p>
        </p:txBody>
      </p:sp>
      <p:pic>
        <p:nvPicPr>
          <p:cNvPr id="19" name="Imagen 1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DC9854A-6CDA-2F7A-CBD4-4FD458883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292" y="9611567"/>
            <a:ext cx="1730766" cy="1077026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E8780B6D-CABD-28C3-D946-AFE6DE86172F}"/>
              </a:ext>
            </a:extLst>
          </p:cNvPr>
          <p:cNvSpPr/>
          <p:nvPr/>
        </p:nvSpPr>
        <p:spPr>
          <a:xfrm>
            <a:off x="6181083" y="10152060"/>
            <a:ext cx="422511" cy="207380"/>
          </a:xfrm>
          <a:prstGeom prst="rect">
            <a:avLst/>
          </a:prstGeom>
          <a:noFill/>
          <a:ln>
            <a:solidFill>
              <a:srgbClr val="005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6396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ED4C476-A022-17C9-3881-B2167717C95D}"/>
              </a:ext>
            </a:extLst>
          </p:cNvPr>
          <p:cNvSpPr txBox="1"/>
          <p:nvPr/>
        </p:nvSpPr>
        <p:spPr>
          <a:xfrm>
            <a:off x="180962" y="104768"/>
            <a:ext cx="26477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dirty="0"/>
              <a:t>Ráfagas</a:t>
            </a:r>
          </a:p>
        </p:txBody>
      </p:sp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7796C599-D8B8-C606-76F7-8AF2523AC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33" y="6046159"/>
            <a:ext cx="4378920" cy="2571058"/>
          </a:xfrm>
          <a:prstGeom prst="rect">
            <a:avLst/>
          </a:prstGeom>
        </p:spPr>
      </p:pic>
      <p:pic>
        <p:nvPicPr>
          <p:cNvPr id="4" name="Imagen 3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6032118D-55D8-B11E-80FA-3E18A672E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949" y="470256"/>
            <a:ext cx="5831141" cy="435621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8A2EACA-7AB3-DF9D-AA86-8FBAF81D3F01}"/>
              </a:ext>
            </a:extLst>
          </p:cNvPr>
          <p:cNvSpPr/>
          <p:nvPr/>
        </p:nvSpPr>
        <p:spPr>
          <a:xfrm>
            <a:off x="895289" y="866716"/>
            <a:ext cx="3247805" cy="3143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4AEA2AC-62E7-3BA3-1F31-EB6A0DBECFDD}"/>
              </a:ext>
            </a:extLst>
          </p:cNvPr>
          <p:cNvSpPr/>
          <p:nvPr/>
        </p:nvSpPr>
        <p:spPr>
          <a:xfrm>
            <a:off x="3714499" y="4476447"/>
            <a:ext cx="1019106" cy="266681"/>
          </a:xfrm>
          <a:prstGeom prst="rect">
            <a:avLst/>
          </a:prstGeom>
          <a:noFill/>
          <a:ln>
            <a:solidFill>
              <a:srgbClr val="005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14732A8-551A-D9C3-431F-EDD24AED4435}"/>
              </a:ext>
            </a:extLst>
          </p:cNvPr>
          <p:cNvSpPr txBox="1"/>
          <p:nvPr/>
        </p:nvSpPr>
        <p:spPr>
          <a:xfrm>
            <a:off x="647656" y="4924092"/>
            <a:ext cx="6667049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 dirty="0"/>
              <a:t>Añadir, editar, eliminar, subir y bajar: Son acciones que permiten añadir, editar, eliminar y ordenar las ráfagas.</a:t>
            </a:r>
          </a:p>
          <a:p>
            <a:pPr algn="l"/>
            <a:endParaRPr lang="es-ES" sz="1100" dirty="0"/>
          </a:p>
          <a:p>
            <a:pPr algn="l"/>
            <a:r>
              <a:rPr lang="es-ES" sz="1100" dirty="0"/>
              <a:t>Guardar cambios: 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Debes guardar los cambios que hagas,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pPr algn="l"/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y para visualizar los cambios debes ir al 1º letrero y pulsar en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pPr algn="l"/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"</a:t>
            </a:r>
            <a:r>
              <a:rPr lang="es-ES" sz="1100" dirty="0">
                <a:solidFill>
                  <a:srgbClr val="92D050"/>
                </a:solidFill>
                <a:latin typeface="Calibri"/>
                <a:ea typeface="Calibri"/>
                <a:cs typeface="Calibri"/>
              </a:rPr>
              <a:t>Generar sitio web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".</a:t>
            </a:r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10" name="Imagen 9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B8C57AC-A045-1E67-3481-4949236BD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259" y="5158348"/>
            <a:ext cx="2145451" cy="13535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3282743A-77A2-1088-F536-8BF49BF54939}"/>
              </a:ext>
            </a:extLst>
          </p:cNvPr>
          <p:cNvSpPr/>
          <p:nvPr/>
        </p:nvSpPr>
        <p:spPr>
          <a:xfrm>
            <a:off x="644716" y="6503793"/>
            <a:ext cx="495266" cy="228584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F23FE5A-4A72-F29B-0431-6BED3B8C1703}"/>
              </a:ext>
            </a:extLst>
          </p:cNvPr>
          <p:cNvSpPr/>
          <p:nvPr/>
        </p:nvSpPr>
        <p:spPr>
          <a:xfrm>
            <a:off x="727289" y="6736070"/>
            <a:ext cx="523839" cy="15238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10A36DA-B703-10D0-19C6-1E18D4013FFA}"/>
              </a:ext>
            </a:extLst>
          </p:cNvPr>
          <p:cNvSpPr/>
          <p:nvPr/>
        </p:nvSpPr>
        <p:spPr>
          <a:xfrm>
            <a:off x="698164" y="6994758"/>
            <a:ext cx="550866" cy="32813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7B43A9E-8B45-FBBD-5E09-E1EB68409960}"/>
              </a:ext>
            </a:extLst>
          </p:cNvPr>
          <p:cNvSpPr/>
          <p:nvPr/>
        </p:nvSpPr>
        <p:spPr>
          <a:xfrm>
            <a:off x="694464" y="7932445"/>
            <a:ext cx="447644" cy="24763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31A913D-D98A-EFD0-01D8-D2F74FA81044}"/>
              </a:ext>
            </a:extLst>
          </p:cNvPr>
          <p:cNvSpPr/>
          <p:nvPr/>
        </p:nvSpPr>
        <p:spPr>
          <a:xfrm>
            <a:off x="4216903" y="7928752"/>
            <a:ext cx="666704" cy="304779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01DE0BC-E814-01D9-44BA-5184018FBB51}"/>
              </a:ext>
            </a:extLst>
          </p:cNvPr>
          <p:cNvSpPr/>
          <p:nvPr/>
        </p:nvSpPr>
        <p:spPr>
          <a:xfrm>
            <a:off x="2194041" y="8177942"/>
            <a:ext cx="657180" cy="3238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FAA39E2-486A-D941-064E-414A68EBD14B}"/>
              </a:ext>
            </a:extLst>
          </p:cNvPr>
          <p:cNvSpPr txBox="1"/>
          <p:nvPr/>
        </p:nvSpPr>
        <p:spPr>
          <a:xfrm>
            <a:off x="400489" y="8605164"/>
            <a:ext cx="6076539" cy="19543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 dirty="0">
                <a:solidFill>
                  <a:srgbClr val="FF00FF"/>
                </a:solidFill>
              </a:rPr>
              <a:t>Imagen</a:t>
            </a:r>
            <a:r>
              <a:rPr lang="es-ES" sz="1100" dirty="0"/>
              <a:t>: Es la imagen (300 x 200) que se va a utilizar de portada en la ráfaga.</a:t>
            </a:r>
            <a:endParaRPr lang="es-ES" sz="1100" dirty="0">
              <a:solidFill>
                <a:srgbClr val="000000"/>
              </a:solidFill>
            </a:endParaRPr>
          </a:p>
          <a:p>
            <a:pPr algn="l"/>
            <a:endParaRPr lang="es-ES" sz="1100" dirty="0"/>
          </a:p>
          <a:p>
            <a:pPr algn="l"/>
            <a:r>
              <a:rPr lang="es-ES" sz="1100" dirty="0">
                <a:solidFill>
                  <a:schemeClr val="accent6"/>
                </a:solidFill>
              </a:rPr>
              <a:t>Título</a:t>
            </a:r>
            <a:r>
              <a:rPr lang="es-ES" sz="1100" dirty="0"/>
              <a:t>: Es el título de la ráfaga.</a:t>
            </a:r>
          </a:p>
          <a:p>
            <a:pPr algn="l"/>
            <a:endParaRPr lang="es-ES" sz="1100" dirty="0"/>
          </a:p>
          <a:p>
            <a:pPr algn="l"/>
            <a:r>
              <a:rPr lang="es-ES" sz="1100" dirty="0">
                <a:solidFill>
                  <a:srgbClr val="00B0F0"/>
                </a:solidFill>
              </a:rPr>
              <a:t>Descripción</a:t>
            </a:r>
            <a:r>
              <a:rPr lang="es-ES" sz="1100" dirty="0"/>
              <a:t>: Es el cuerpo de la ráfaga.</a:t>
            </a:r>
          </a:p>
          <a:p>
            <a:pPr algn="l"/>
            <a:endParaRPr lang="es-ES" sz="1100" dirty="0"/>
          </a:p>
          <a:p>
            <a:pPr algn="l"/>
            <a:r>
              <a:rPr lang="es-ES" sz="1100" dirty="0">
                <a:solidFill>
                  <a:srgbClr val="7030A0"/>
                </a:solidFill>
              </a:rPr>
              <a:t>Link</a:t>
            </a:r>
            <a:r>
              <a:rPr lang="es-ES" sz="1100" dirty="0"/>
              <a:t>: Es un enlace a un </a:t>
            </a:r>
            <a:r>
              <a:rPr lang="es-ES" sz="1100" err="1"/>
              <a:t>pdf</a:t>
            </a:r>
            <a:r>
              <a:rPr lang="es-ES" sz="1100" dirty="0"/>
              <a:t> o una página web al que el usuario accede pinchando en la imagen o en el botón de leer más en el sitio web, también puedes buscar el enlace pulsando el botón "</a:t>
            </a:r>
            <a:r>
              <a:rPr lang="es-ES" sz="1100" dirty="0">
                <a:solidFill>
                  <a:schemeClr val="bg2">
                    <a:lumMod val="49000"/>
                  </a:schemeClr>
                </a:solidFill>
              </a:rPr>
              <a:t>buscar archivo</a:t>
            </a:r>
            <a:r>
              <a:rPr lang="es-ES" sz="1100" dirty="0"/>
              <a:t>".</a:t>
            </a:r>
          </a:p>
          <a:p>
            <a:pPr algn="l"/>
            <a:endParaRPr lang="es-ES" sz="1100" dirty="0"/>
          </a:p>
          <a:p>
            <a:pPr algn="l"/>
            <a:r>
              <a:rPr lang="es-ES" sz="1100" dirty="0">
                <a:solidFill>
                  <a:srgbClr val="00B050"/>
                </a:solidFill>
              </a:rPr>
              <a:t>Guardar cambios</a:t>
            </a:r>
            <a:r>
              <a:rPr lang="es-ES" sz="1100" dirty="0"/>
              <a:t>: Debes guardar los cambios, los cambios se reflejaran en la pestaña lista.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C3E8A97-C20D-2C92-1D67-B2D10348AF56}"/>
              </a:ext>
            </a:extLst>
          </p:cNvPr>
          <p:cNvSpPr/>
          <p:nvPr/>
        </p:nvSpPr>
        <p:spPr>
          <a:xfrm>
            <a:off x="6171783" y="5832591"/>
            <a:ext cx="534909" cy="22337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5340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58FD4F9-E397-0684-18AB-15952712FB16}"/>
              </a:ext>
            </a:extLst>
          </p:cNvPr>
          <p:cNvSpPr txBox="1"/>
          <p:nvPr/>
        </p:nvSpPr>
        <p:spPr>
          <a:xfrm>
            <a:off x="219060" y="95243"/>
            <a:ext cx="22953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dirty="0"/>
              <a:t>Proyectos</a:t>
            </a:r>
          </a:p>
        </p:txBody>
      </p:sp>
      <p:pic>
        <p:nvPicPr>
          <p:cNvPr id="3" name="Imagen 2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AF6B7783-7901-A68A-A748-EA7491D7B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305"/>
            <a:ext cx="7550699" cy="4916273"/>
          </a:xfrm>
          <a:prstGeom prst="rect">
            <a:avLst/>
          </a:prstGeom>
        </p:spPr>
      </p:pic>
      <p:pic>
        <p:nvPicPr>
          <p:cNvPr id="4" name="Imagen 3" descr="Interfaz de usuario gráfica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EFE0C37D-38FF-D1DF-3A12-89F7BB8C2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70" y="6798423"/>
            <a:ext cx="3554180" cy="202010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6E8F13E-C27C-7598-E0A4-BD982AACE633}"/>
              </a:ext>
            </a:extLst>
          </p:cNvPr>
          <p:cNvSpPr/>
          <p:nvPr/>
        </p:nvSpPr>
        <p:spPr>
          <a:xfrm>
            <a:off x="28573" y="923862"/>
            <a:ext cx="1285788" cy="361925"/>
          </a:xfrm>
          <a:prstGeom prst="rect">
            <a:avLst/>
          </a:prstGeom>
          <a:noFill/>
          <a:ln>
            <a:solidFill>
              <a:srgbClr val="F516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EA57504-BEA6-73B3-4BB7-A216AFA83DAB}"/>
              </a:ext>
            </a:extLst>
          </p:cNvPr>
          <p:cNvSpPr/>
          <p:nvPr/>
        </p:nvSpPr>
        <p:spPr>
          <a:xfrm>
            <a:off x="28572" y="1323885"/>
            <a:ext cx="3304951" cy="24763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CFA7545-3A29-7363-A262-FEE141959B13}"/>
              </a:ext>
            </a:extLst>
          </p:cNvPr>
          <p:cNvSpPr/>
          <p:nvPr/>
        </p:nvSpPr>
        <p:spPr>
          <a:xfrm>
            <a:off x="3685926" y="5028860"/>
            <a:ext cx="933386" cy="28573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74091B8-4E09-78D3-4A88-C0C6C255DD33}"/>
              </a:ext>
            </a:extLst>
          </p:cNvPr>
          <p:cNvSpPr txBox="1"/>
          <p:nvPr/>
        </p:nvSpPr>
        <p:spPr>
          <a:xfrm>
            <a:off x="37499" y="5384320"/>
            <a:ext cx="7487340" cy="15542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 dirty="0">
                <a:solidFill>
                  <a:srgbClr val="F5169C"/>
                </a:solidFill>
              </a:rPr>
              <a:t>Categoría</a:t>
            </a:r>
            <a:r>
              <a:rPr lang="es-ES" sz="1100" dirty="0"/>
              <a:t>: Son los apartados de proyectos; en curso, anteriores y trabajos </a:t>
            </a:r>
            <a:r>
              <a:rPr lang="es-ES" sz="1100" dirty="0" err="1"/>
              <a:t>academicos</a:t>
            </a:r>
            <a:r>
              <a:rPr lang="es-ES" sz="1100" dirty="0"/>
              <a:t>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00B0F0"/>
                </a:solidFill>
              </a:rPr>
              <a:t>Añadir, editar, eliminar, subir y bajar</a:t>
            </a:r>
            <a:r>
              <a:rPr lang="es-ES" sz="1100" dirty="0">
                <a:solidFill>
                  <a:srgbClr val="000000"/>
                </a:solidFill>
              </a:rPr>
              <a:t>: Son acciones que permiten añadir, editar, eliminar y ordenar los proyectos.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000000"/>
                </a:solidFill>
              </a:rPr>
              <a:t>Guardar cambios: 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Debes guardar los cambios que hagas,</a:t>
            </a:r>
            <a:endParaRPr lang="en-US" sz="11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y para visualizar los cambios debes ir al 1º letrero y pulsar en</a:t>
            </a:r>
            <a:endParaRPr lang="en-US" sz="11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"</a:t>
            </a:r>
            <a:r>
              <a:rPr lang="es-ES" sz="1100" dirty="0">
                <a:solidFill>
                  <a:schemeClr val="bg2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Generar sitio web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".</a:t>
            </a:r>
            <a:endParaRPr lang="es-ES" dirty="0">
              <a:solidFill>
                <a:schemeClr val="tx1"/>
              </a:solidFill>
            </a:endParaRPr>
          </a:p>
          <a:p>
            <a:pPr algn="l"/>
            <a:endParaRPr lang="es-ES"/>
          </a:p>
        </p:txBody>
      </p:sp>
      <p:pic>
        <p:nvPicPr>
          <p:cNvPr id="11" name="Imagen 10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E2394353-0A8B-ED6B-89A4-54DE110B0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673" y="6125710"/>
            <a:ext cx="2145451" cy="135357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43D8D441-5AFD-75FD-C190-C06F5FC5AB21}"/>
              </a:ext>
            </a:extLst>
          </p:cNvPr>
          <p:cNvSpPr/>
          <p:nvPr/>
        </p:nvSpPr>
        <p:spPr>
          <a:xfrm>
            <a:off x="5581272" y="6800390"/>
            <a:ext cx="790521" cy="276206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3CA0FB4-782E-3D94-AD3C-E8EE01E9F790}"/>
              </a:ext>
            </a:extLst>
          </p:cNvPr>
          <p:cNvSpPr/>
          <p:nvPr/>
        </p:nvSpPr>
        <p:spPr>
          <a:xfrm>
            <a:off x="247632" y="7143267"/>
            <a:ext cx="409547" cy="152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74ACEA2-9ADC-AA35-DDE5-8D90ACF6A083}"/>
              </a:ext>
            </a:extLst>
          </p:cNvPr>
          <p:cNvSpPr/>
          <p:nvPr/>
        </p:nvSpPr>
        <p:spPr>
          <a:xfrm>
            <a:off x="285730" y="7324230"/>
            <a:ext cx="380974" cy="1428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C1DE164-6E13-A409-54C7-BC29829A74D3}"/>
              </a:ext>
            </a:extLst>
          </p:cNvPr>
          <p:cNvSpPr/>
          <p:nvPr/>
        </p:nvSpPr>
        <p:spPr>
          <a:xfrm>
            <a:off x="266681" y="7581388"/>
            <a:ext cx="361925" cy="12381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FA875EE-F0B8-9149-14CC-5C2E7402B757}"/>
              </a:ext>
            </a:extLst>
          </p:cNvPr>
          <p:cNvSpPr/>
          <p:nvPr/>
        </p:nvSpPr>
        <p:spPr>
          <a:xfrm>
            <a:off x="3047794" y="7533766"/>
            <a:ext cx="580985" cy="257157"/>
          </a:xfrm>
          <a:prstGeom prst="rect">
            <a:avLst/>
          </a:prstGeom>
          <a:noFill/>
          <a:ln>
            <a:solidFill>
              <a:srgbClr val="CBD9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EEE3644-36B6-2047-1351-24D5DDA21966}"/>
              </a:ext>
            </a:extLst>
          </p:cNvPr>
          <p:cNvSpPr/>
          <p:nvPr/>
        </p:nvSpPr>
        <p:spPr>
          <a:xfrm>
            <a:off x="285730" y="7743301"/>
            <a:ext cx="428596" cy="14286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3D2FFA9-5F7B-BFBE-D479-8B2F46AE2238}"/>
              </a:ext>
            </a:extLst>
          </p:cNvPr>
          <p:cNvSpPr/>
          <p:nvPr/>
        </p:nvSpPr>
        <p:spPr>
          <a:xfrm>
            <a:off x="1400080" y="8495726"/>
            <a:ext cx="542888" cy="20953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60C8540-8AFF-14FB-8067-59375E44101E}"/>
              </a:ext>
            </a:extLst>
          </p:cNvPr>
          <p:cNvSpPr txBox="1"/>
          <p:nvPr/>
        </p:nvSpPr>
        <p:spPr>
          <a:xfrm>
            <a:off x="215361" y="8826361"/>
            <a:ext cx="6848012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 dirty="0">
                <a:solidFill>
                  <a:srgbClr val="FF0000"/>
                </a:solidFill>
              </a:rPr>
              <a:t>Imagen</a:t>
            </a:r>
            <a:r>
              <a:rPr lang="es-ES" sz="1100" dirty="0"/>
              <a:t>: Es la imagen (300 x 300) de portada que saldrá en el proyecto.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0070C0"/>
                </a:solidFill>
              </a:rPr>
              <a:t>Título</a:t>
            </a:r>
            <a:r>
              <a:rPr lang="es-ES" sz="1100" dirty="0">
                <a:solidFill>
                  <a:srgbClr val="000000"/>
                </a:solidFill>
              </a:rPr>
              <a:t>: Es el título del proyecto.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7030A0"/>
                </a:solidFill>
              </a:rPr>
              <a:t>Link</a:t>
            </a:r>
            <a:r>
              <a:rPr lang="es-ES" sz="1100" dirty="0">
                <a:solidFill>
                  <a:srgbClr val="000000"/>
                </a:solidFill>
              </a:rPr>
              <a:t>: Es el enlace al que el usuario puede acce</a:t>
            </a:r>
            <a:r>
              <a:rPr lang="es-ES" sz="1100" dirty="0">
                <a:solidFill>
                  <a:schemeClr val="tx1"/>
                </a:solidFill>
              </a:rPr>
              <a:t>der pinchando</a:t>
            </a:r>
            <a:r>
              <a:rPr lang="es-ES" sz="1100" dirty="0">
                <a:solidFill>
                  <a:srgbClr val="000000"/>
                </a:solidFill>
              </a:rPr>
              <a:t> en la imagen del proyecto, también puedes buscar un enlace a través del botón "</a:t>
            </a:r>
            <a:r>
              <a:rPr lang="es-ES" sz="1100" dirty="0">
                <a:solidFill>
                  <a:srgbClr val="CBD938"/>
                </a:solidFill>
              </a:rPr>
              <a:t>buscar enlace</a:t>
            </a:r>
            <a:r>
              <a:rPr lang="es-ES" sz="1100" dirty="0">
                <a:solidFill>
                  <a:srgbClr val="000000"/>
                </a:solidFill>
              </a:rPr>
              <a:t>".</a:t>
            </a:r>
            <a:endParaRPr lang="es-ES" sz="11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92D050"/>
                </a:solidFill>
              </a:rPr>
              <a:t>Descripción</a:t>
            </a:r>
            <a:r>
              <a:rPr lang="es-ES" sz="1100" dirty="0">
                <a:solidFill>
                  <a:srgbClr val="000000"/>
                </a:solidFill>
              </a:rPr>
              <a:t>: Es el cuerpo del proyecto.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chemeClr val="accent6"/>
                </a:solidFill>
              </a:rPr>
              <a:t>Guardar</a:t>
            </a:r>
            <a:r>
              <a:rPr lang="es-ES" sz="1100" dirty="0">
                <a:solidFill>
                  <a:srgbClr val="000000"/>
                </a:solidFill>
              </a:rPr>
              <a:t>: </a:t>
            </a:r>
            <a:r>
              <a:rPr lang="es-ES" sz="11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Debes guardar los cambios, los cambios se reflejaran en la pestaña lista.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589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1B863F-EFA3-F854-2A11-2FF12CDE5582}"/>
              </a:ext>
            </a:extLst>
          </p:cNvPr>
          <p:cNvSpPr txBox="1"/>
          <p:nvPr/>
        </p:nvSpPr>
        <p:spPr>
          <a:xfrm>
            <a:off x="283363" y="100010"/>
            <a:ext cx="23169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Página web</a:t>
            </a:r>
          </a:p>
        </p:txBody>
      </p:sp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9D6D2847-B4CA-C502-5788-A0215A1C9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9007"/>
            <a:ext cx="7550699" cy="6094192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A2BC0C0-672C-0F11-FCF5-38B1A86C6A80}"/>
              </a:ext>
            </a:extLst>
          </p:cNvPr>
          <p:cNvSpPr/>
          <p:nvPr/>
        </p:nvSpPr>
        <p:spPr>
          <a:xfrm>
            <a:off x="85719" y="904814"/>
            <a:ext cx="419071" cy="2285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3C196C-9DDE-CDC6-2DB5-ADBDDD775FE3}"/>
              </a:ext>
            </a:extLst>
          </p:cNvPr>
          <p:cNvSpPr/>
          <p:nvPr/>
        </p:nvSpPr>
        <p:spPr>
          <a:xfrm>
            <a:off x="66670" y="1171495"/>
            <a:ext cx="390498" cy="20953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60E0E89-BB35-CDD1-F3CF-9505DD223E32}"/>
              </a:ext>
            </a:extLst>
          </p:cNvPr>
          <p:cNvSpPr/>
          <p:nvPr/>
        </p:nvSpPr>
        <p:spPr>
          <a:xfrm>
            <a:off x="85719" y="1733432"/>
            <a:ext cx="371449" cy="20953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6BBFB00-E1BA-798C-8F7E-676FE8F24CBB}"/>
              </a:ext>
            </a:extLst>
          </p:cNvPr>
          <p:cNvSpPr/>
          <p:nvPr/>
        </p:nvSpPr>
        <p:spPr>
          <a:xfrm>
            <a:off x="66670" y="2209651"/>
            <a:ext cx="495266" cy="238108"/>
          </a:xfrm>
          <a:prstGeom prst="rect">
            <a:avLst/>
          </a:prstGeom>
          <a:noFill/>
          <a:ln>
            <a:solidFill>
              <a:srgbClr val="F516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F760B90-EB08-8E80-6B66-A70BD9693927}"/>
              </a:ext>
            </a:extLst>
          </p:cNvPr>
          <p:cNvSpPr/>
          <p:nvPr/>
        </p:nvSpPr>
        <p:spPr>
          <a:xfrm>
            <a:off x="104767" y="3057318"/>
            <a:ext cx="428596" cy="20001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9614B30-9323-4872-FCF4-20E8F692268D}"/>
              </a:ext>
            </a:extLst>
          </p:cNvPr>
          <p:cNvSpPr/>
          <p:nvPr/>
        </p:nvSpPr>
        <p:spPr>
          <a:xfrm>
            <a:off x="66670" y="3333525"/>
            <a:ext cx="761948" cy="22858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8711201-0EA2-210A-B6BD-4B29E51FDCE2}"/>
              </a:ext>
            </a:extLst>
          </p:cNvPr>
          <p:cNvSpPr/>
          <p:nvPr/>
        </p:nvSpPr>
        <p:spPr>
          <a:xfrm>
            <a:off x="85719" y="3571633"/>
            <a:ext cx="695278" cy="1904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6386D27-3E45-4DB4-E5FE-2BB67312809C}"/>
              </a:ext>
            </a:extLst>
          </p:cNvPr>
          <p:cNvSpPr/>
          <p:nvPr/>
        </p:nvSpPr>
        <p:spPr>
          <a:xfrm>
            <a:off x="66670" y="3781169"/>
            <a:ext cx="723851" cy="22858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47FCF1C-A9B8-2149-62C4-061F70CCEAB0}"/>
              </a:ext>
            </a:extLst>
          </p:cNvPr>
          <p:cNvSpPr/>
          <p:nvPr/>
        </p:nvSpPr>
        <p:spPr>
          <a:xfrm>
            <a:off x="1990590" y="4305009"/>
            <a:ext cx="3752596" cy="37144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E2C7F5E-0875-5638-3BEA-5B28A2B3FA5C}"/>
              </a:ext>
            </a:extLst>
          </p:cNvPr>
          <p:cNvSpPr/>
          <p:nvPr/>
        </p:nvSpPr>
        <p:spPr>
          <a:xfrm>
            <a:off x="85719" y="6267027"/>
            <a:ext cx="2400137" cy="228584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AD67989-EF91-E97B-B14E-018A8302D8D1}"/>
              </a:ext>
            </a:extLst>
          </p:cNvPr>
          <p:cNvSpPr txBox="1"/>
          <p:nvPr/>
        </p:nvSpPr>
        <p:spPr>
          <a:xfrm>
            <a:off x="85719" y="6638476"/>
            <a:ext cx="7257559" cy="36471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 dirty="0">
                <a:solidFill>
                  <a:srgbClr val="FF0000"/>
                </a:solidFill>
              </a:rPr>
              <a:t>Portada / Imagen</a:t>
            </a:r>
            <a:r>
              <a:rPr lang="es-ES" sz="1100" dirty="0"/>
              <a:t>: Una imagen de portada y otra imagen que puede tener "</a:t>
            </a:r>
            <a:r>
              <a:rPr lang="es-ES" sz="1100" dirty="0">
                <a:solidFill>
                  <a:srgbClr val="0070C0"/>
                </a:solidFill>
              </a:rPr>
              <a:t>pie de imagen</a:t>
            </a:r>
            <a:r>
              <a:rPr lang="es-ES" sz="1100" dirty="0"/>
              <a:t>", las imágenes tienen un tamaño de 600 x 350.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92D050"/>
                </a:solidFill>
              </a:rPr>
              <a:t>Título</a:t>
            </a:r>
            <a:r>
              <a:rPr lang="es-ES" sz="1100" dirty="0">
                <a:solidFill>
                  <a:srgbClr val="000000"/>
                </a:solidFill>
              </a:rPr>
              <a:t>: El título de la página.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00B0F0"/>
                </a:solidFill>
              </a:rPr>
              <a:t>Autor</a:t>
            </a:r>
            <a:r>
              <a:rPr lang="es-ES" sz="1100" dirty="0">
                <a:solidFill>
                  <a:srgbClr val="000000"/>
                </a:solidFill>
              </a:rPr>
              <a:t>: El nombre de la persona que va a escribir la página.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F5169C"/>
                </a:solidFill>
              </a:rPr>
              <a:t>Párrafo</a:t>
            </a:r>
            <a:r>
              <a:rPr lang="es-ES" sz="1100" dirty="0">
                <a:solidFill>
                  <a:srgbClr val="000000"/>
                </a:solidFill>
              </a:rPr>
              <a:t>: El contenido de la página.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7030A0"/>
                </a:solidFill>
              </a:rPr>
              <a:t>Enlace</a:t>
            </a:r>
            <a:r>
              <a:rPr lang="es-ES" sz="1100" dirty="0">
                <a:solidFill>
                  <a:srgbClr val="000000"/>
                </a:solidFill>
              </a:rPr>
              <a:t>: </a:t>
            </a:r>
            <a:r>
              <a:rPr lang="es-ES" sz="1100" dirty="0">
                <a:solidFill>
                  <a:schemeClr val="tx1"/>
                </a:solidFill>
              </a:rPr>
              <a:t>T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 dirige a la dirección que quieres que lleve al usuario cuando pinche en la imagen o en el "</a:t>
            </a:r>
            <a:r>
              <a:rPr lang="es-ES" sz="1100" dirty="0">
                <a:solidFill>
                  <a:schemeClr val="accent6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texto del enlace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",(</a:t>
            </a:r>
            <a:r>
              <a:rPr lang="es-ES" sz="110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pdf</a:t>
            </a:r>
            <a:r>
              <a:rPr lang="es-ES" sz="11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página web).</a:t>
            </a:r>
            <a:endParaRPr lang="en-US" sz="11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s-ES" sz="11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s-ES" sz="1100" dirty="0">
                <a:solidFill>
                  <a:srgbClr val="0070C0"/>
                </a:solidFill>
              </a:rPr>
              <a:t>Pie de imagen</a:t>
            </a:r>
            <a:r>
              <a:rPr lang="es-ES" sz="1100" dirty="0">
                <a:solidFill>
                  <a:srgbClr val="000000"/>
                </a:solidFill>
              </a:rPr>
              <a:t>: El texto que aparece debajo de la imagen.</a:t>
            </a:r>
          </a:p>
          <a:p>
            <a:pPr algn="l"/>
            <a:endParaRPr lang="es-ES" sz="1100" dirty="0">
              <a:solidFill>
                <a:srgbClr val="00B050"/>
              </a:solidFill>
            </a:endParaRPr>
          </a:p>
          <a:p>
            <a:pPr algn="l"/>
            <a:r>
              <a:rPr lang="es-ES" sz="1100" dirty="0">
                <a:solidFill>
                  <a:srgbClr val="00B050"/>
                </a:solidFill>
              </a:rPr>
              <a:t>Añadir, editar, eliminar, subir y bajar</a:t>
            </a:r>
            <a:r>
              <a:rPr lang="es-ES" sz="1100" dirty="0">
                <a:solidFill>
                  <a:srgbClr val="000000"/>
                </a:solidFill>
              </a:rPr>
              <a:t>: Son acciones que nos permiten añadir, editar, eliminar y ordenar las páginas que hayamos creado anteriormente.</a:t>
            </a:r>
          </a:p>
          <a:p>
            <a:pPr algn="l"/>
            <a:endParaRPr lang="es-ES" sz="1100" dirty="0">
              <a:solidFill>
                <a:schemeClr val="bg2">
                  <a:lumMod val="49000"/>
                </a:schemeClr>
              </a:solidFill>
            </a:endParaRPr>
          </a:p>
          <a:p>
            <a:pPr algn="l"/>
            <a:r>
              <a:rPr lang="es-ES" sz="1100" dirty="0">
                <a:solidFill>
                  <a:schemeClr val="bg2">
                    <a:lumMod val="49000"/>
                  </a:schemeClr>
                </a:solidFill>
              </a:rPr>
              <a:t>Guardar, Instrucciones y ver páginas creadas</a:t>
            </a:r>
            <a:r>
              <a:rPr lang="es-ES" sz="1100" dirty="0">
                <a:solidFill>
                  <a:srgbClr val="000000"/>
                </a:solidFill>
              </a:rPr>
              <a:t>: Son acciones para guardar los cambios realizados y ver las páginas creadas que hay.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endParaRPr lang="es-ES" sz="1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514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80E28CD-2773-4F5C-8DDB-8A50E87D00F4}"/>
              </a:ext>
            </a:extLst>
          </p:cNvPr>
          <p:cNvSpPr txBox="1"/>
          <p:nvPr/>
        </p:nvSpPr>
        <p:spPr>
          <a:xfrm>
            <a:off x="133341" y="133341"/>
            <a:ext cx="35811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dirty="0"/>
              <a:t>Páginas creadas</a:t>
            </a:r>
          </a:p>
        </p:txBody>
      </p:sp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760D9E85-A441-A14C-E162-51E8B9EB8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41" y="623887"/>
            <a:ext cx="6636617" cy="409575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BB3F4D3-7686-2ED5-65D6-AF186F591859}"/>
              </a:ext>
            </a:extLst>
          </p:cNvPr>
          <p:cNvSpPr/>
          <p:nvPr/>
        </p:nvSpPr>
        <p:spPr>
          <a:xfrm>
            <a:off x="533363" y="1181019"/>
            <a:ext cx="790521" cy="3524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4B6C626-80AD-E863-CB27-E5317D43F695}"/>
              </a:ext>
            </a:extLst>
          </p:cNvPr>
          <p:cNvSpPr/>
          <p:nvPr/>
        </p:nvSpPr>
        <p:spPr>
          <a:xfrm>
            <a:off x="561937" y="4324058"/>
            <a:ext cx="1619140" cy="4381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B053D4C-3430-9EEF-771A-63A5FD5BFD9C}"/>
              </a:ext>
            </a:extLst>
          </p:cNvPr>
          <p:cNvSpPr txBox="1"/>
          <p:nvPr/>
        </p:nvSpPr>
        <p:spPr>
          <a:xfrm>
            <a:off x="438120" y="4895519"/>
            <a:ext cx="6571806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100" dirty="0"/>
              <a:t>Para añadir una página creada como si fuera un enlace se debe copiar el id de la página al enlace, por ejemplo: hay una página creada que se llama "</a:t>
            </a:r>
            <a:r>
              <a:rPr lang="es-ES" sz="1100" dirty="0">
                <a:solidFill>
                  <a:srgbClr val="FF0000"/>
                </a:solidFill>
              </a:rPr>
              <a:t>pagina_001</a:t>
            </a:r>
            <a:r>
              <a:rPr lang="es-ES" sz="1100" dirty="0"/>
              <a:t>", pues en el enlace tienes que poner el nombre del documento que aparece en el apartado de ID.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  <a:p>
            <a:pPr algn="l"/>
            <a:r>
              <a:rPr lang="es-ES" sz="1100" dirty="0">
                <a:solidFill>
                  <a:srgbClr val="000000"/>
                </a:solidFill>
              </a:rPr>
              <a:t>Editar, borrar: Son acciones con las que puedes editar o borrar las páginas que hay creadas.</a:t>
            </a:r>
          </a:p>
          <a:p>
            <a:pPr algn="l"/>
            <a:endParaRPr lang="es-ES" sz="1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240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137</Words>
  <Application>Microsoft Office PowerPoint</Application>
  <PresentationFormat>Personalizado</PresentationFormat>
  <Paragraphs>7</Paragraphs>
  <Slides>11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ayuda al usuario - Documentos de Google</dc:title>
  <dc:creator>mjgarcia</dc:creator>
  <cp:lastModifiedBy>MARIA JESUS GARCIA GARCIA</cp:lastModifiedBy>
  <cp:revision>1412</cp:revision>
  <dcterms:created xsi:type="dcterms:W3CDTF">2026-01-21T14:20:52Z</dcterms:created>
  <dcterms:modified xsi:type="dcterms:W3CDTF">2026-01-29T12:27:13Z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2026-01-21T00:00:00Z</vt:filetime>
  </property>
  <property fmtid="{D5CDD505-2E9C-101B-9397-08002B2CF9AE}" pid="3" name="LastSaved">
    <vt:filetime>2026-01-21T00:00:00Z</vt:filetime>
  </property>
  <property fmtid="{D5CDD505-2E9C-101B-9397-08002B2CF9AE}" pid="4" name="Producer">
    <vt:lpwstr>Microsoft: Print To PDF</vt:lpwstr>
  </property>
</Properties>
</file>